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enor Sans" charset="1" panose="02000000000000000000"/>
      <p:regular r:id="rId27"/>
    </p:embeddedFont>
    <p:embeddedFont>
      <p:font typeface="Clear Sans Medium" charset="1" panose="020B0603030202020304"/>
      <p:regular r:id="rId28"/>
    </p:embeddedFont>
    <p:embeddedFont>
      <p:font typeface="Clear Sans" charset="1" panose="020B0503030202020304"/>
      <p:regular r:id="rId29"/>
    </p:embeddedFont>
    <p:embeddedFont>
      <p:font typeface="Clear Sans Bold" charset="1" panose="020B0803030202020304"/>
      <p:regular r:id="rId30"/>
    </p:embeddedFont>
    <p:embeddedFont>
      <p:font typeface="Apricot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grpSp>
        <p:nvGrpSpPr>
          <p:cNvPr name="Group 2" id="2"/>
          <p:cNvGrpSpPr/>
          <p:nvPr/>
        </p:nvGrpSpPr>
        <p:grpSpPr>
          <a:xfrm rot="0">
            <a:off x="666750" y="2666301"/>
            <a:ext cx="11245318" cy="5401251"/>
            <a:chOff x="0" y="0"/>
            <a:chExt cx="14993757" cy="7201669"/>
          </a:xfrm>
        </p:grpSpPr>
        <p:sp>
          <p:nvSpPr>
            <p:cNvPr name="TextBox 3" id="3"/>
            <p:cNvSpPr txBox="true"/>
            <p:nvPr/>
          </p:nvSpPr>
          <p:spPr>
            <a:xfrm rot="0">
              <a:off x="0" y="142875"/>
              <a:ext cx="14221384" cy="5405603"/>
            </a:xfrm>
            <a:prstGeom prst="rect">
              <a:avLst/>
            </a:prstGeom>
          </p:spPr>
          <p:txBody>
            <a:bodyPr anchor="t" rtlCol="false" tIns="0" lIns="0" bIns="0" rIns="0">
              <a:spAutoFit/>
            </a:bodyPr>
            <a:lstStyle/>
            <a:p>
              <a:pPr algn="l" marL="0" indent="0" lvl="0">
                <a:lnSpc>
                  <a:spcPts val="7833"/>
                </a:lnSpc>
              </a:pPr>
              <a:r>
                <a:rPr lang="en-US" sz="7833" spc="-156">
                  <a:solidFill>
                    <a:srgbClr val="F5F5F5"/>
                  </a:solidFill>
                  <a:latin typeface="Tenor Sans"/>
                  <a:ea typeface="Tenor Sans"/>
                  <a:cs typeface="Tenor Sans"/>
                  <a:sym typeface="Tenor Sans"/>
                </a:rPr>
                <a:t>Food Trends: Understanding Customer Preferences in the Food Business</a:t>
              </a:r>
            </a:p>
          </p:txBody>
        </p:sp>
        <p:sp>
          <p:nvSpPr>
            <p:cNvPr name="TextBox 4" id="4"/>
            <p:cNvSpPr txBox="true"/>
            <p:nvPr/>
          </p:nvSpPr>
          <p:spPr>
            <a:xfrm rot="0">
              <a:off x="0" y="6503586"/>
              <a:ext cx="14993757" cy="698083"/>
            </a:xfrm>
            <a:prstGeom prst="rect">
              <a:avLst/>
            </a:prstGeom>
          </p:spPr>
          <p:txBody>
            <a:bodyPr anchor="t" rtlCol="false" tIns="0" lIns="0" bIns="0" rIns="0">
              <a:spAutoFit/>
            </a:bodyPr>
            <a:lstStyle/>
            <a:p>
              <a:pPr algn="l" marL="0" indent="0" lvl="0">
                <a:lnSpc>
                  <a:spcPts val="4479"/>
                </a:lnSpc>
                <a:spcBef>
                  <a:spcPct val="0"/>
                </a:spcBef>
              </a:pP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858205" y="3808413"/>
            <a:ext cx="5531853" cy="3732147"/>
          </a:xfrm>
          <a:custGeom>
            <a:avLst/>
            <a:gdLst/>
            <a:ahLst/>
            <a:cxnLst/>
            <a:rect r="r" b="b" t="t" l="l"/>
            <a:pathLst>
              <a:path h="3732147" w="5531853">
                <a:moveTo>
                  <a:pt x="0" y="0"/>
                </a:moveTo>
                <a:lnTo>
                  <a:pt x="5531853" y="0"/>
                </a:lnTo>
                <a:lnTo>
                  <a:pt x="5531853" y="3732147"/>
                </a:lnTo>
                <a:lnTo>
                  <a:pt x="0" y="3732147"/>
                </a:lnTo>
                <a:lnTo>
                  <a:pt x="0" y="0"/>
                </a:lnTo>
                <a:close/>
              </a:path>
            </a:pathLst>
          </a:custGeom>
          <a:blipFill>
            <a:blip r:embed="rId4"/>
            <a:stretch>
              <a:fillRect l="-599" t="0" r="-599" b="0"/>
            </a:stretch>
          </a:blipFill>
        </p:spPr>
      </p:sp>
      <p:sp>
        <p:nvSpPr>
          <p:cNvPr name="TextBox 4" id="4"/>
          <p:cNvSpPr txBox="true"/>
          <p:nvPr/>
        </p:nvSpPr>
        <p:spPr>
          <a:xfrm rot="0">
            <a:off x="666750" y="1562086"/>
            <a:ext cx="8324850"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Project Overview</a:t>
            </a:r>
          </a:p>
        </p:txBody>
      </p:sp>
      <p:grpSp>
        <p:nvGrpSpPr>
          <p:cNvPr name="Group 5" id="5"/>
          <p:cNvGrpSpPr/>
          <p:nvPr/>
        </p:nvGrpSpPr>
        <p:grpSpPr>
          <a:xfrm rot="0">
            <a:off x="6913336" y="2973325"/>
            <a:ext cx="10692753" cy="6130521"/>
            <a:chOff x="0" y="0"/>
            <a:chExt cx="14257004" cy="8174028"/>
          </a:xfrm>
        </p:grpSpPr>
        <p:sp>
          <p:nvSpPr>
            <p:cNvPr name="TextBox 6" id="6"/>
            <p:cNvSpPr txBox="true"/>
            <p:nvPr/>
          </p:nvSpPr>
          <p:spPr>
            <a:xfrm rot="0">
              <a:off x="0" y="-57150"/>
              <a:ext cx="14257004" cy="611482"/>
            </a:xfrm>
            <a:prstGeom prst="rect">
              <a:avLst/>
            </a:prstGeom>
          </p:spPr>
          <p:txBody>
            <a:bodyPr anchor="t" rtlCol="false" tIns="0" lIns="0" bIns="0" rIns="0">
              <a:spAutoFit/>
            </a:bodyPr>
            <a:lstStyle/>
            <a:p>
              <a:pPr algn="l" marL="0" indent="0" lvl="0">
                <a:lnSpc>
                  <a:spcPts val="3859"/>
                </a:lnSpc>
                <a:spcBef>
                  <a:spcPct val="0"/>
                </a:spcBef>
              </a:pPr>
              <a:r>
                <a:rPr lang="en-US" b="true" sz="2756">
                  <a:solidFill>
                    <a:srgbClr val="F5F5F5"/>
                  </a:solidFill>
                  <a:latin typeface="Clear Sans Medium"/>
                  <a:ea typeface="Clear Sans Medium"/>
                  <a:cs typeface="Clear Sans Medium"/>
                  <a:sym typeface="Clear Sans Medium"/>
                </a:rPr>
                <a:t>OBJECTIVE</a:t>
              </a:r>
            </a:p>
          </p:txBody>
        </p:sp>
        <p:sp>
          <p:nvSpPr>
            <p:cNvPr name="TextBox 7" id="7"/>
            <p:cNvSpPr txBox="true"/>
            <p:nvPr/>
          </p:nvSpPr>
          <p:spPr>
            <a:xfrm rot="0">
              <a:off x="0" y="961751"/>
              <a:ext cx="14257004" cy="5108158"/>
            </a:xfrm>
            <a:prstGeom prst="rect">
              <a:avLst/>
            </a:prstGeom>
          </p:spPr>
          <p:txBody>
            <a:bodyPr anchor="t" rtlCol="false" tIns="0" lIns="0" bIns="0" rIns="0">
              <a:spAutoFit/>
            </a:bodyPr>
            <a:lstStyle/>
            <a:p>
              <a:pPr algn="l" marL="0" indent="0" lvl="0">
                <a:lnSpc>
                  <a:spcPts val="3429"/>
                </a:lnSpc>
                <a:spcBef>
                  <a:spcPct val="0"/>
                </a:spcBef>
              </a:pPr>
              <a:r>
                <a:rPr lang="en-US" sz="2449">
                  <a:solidFill>
                    <a:srgbClr val="F5F5F5"/>
                  </a:solidFill>
                  <a:latin typeface="Clear Sans"/>
                  <a:ea typeface="Clear Sans"/>
                  <a:cs typeface="Clear Sans"/>
                  <a:sym typeface="Clear Sans"/>
                </a:rPr>
                <a:t>The objective is to analyze customer preferences within food-tech data, enhancing product relevance and strategic business decisions.</a:t>
              </a:r>
            </a:p>
            <a:p>
              <a:pPr algn="l" marL="0" indent="0" lvl="0">
                <a:lnSpc>
                  <a:spcPts val="3429"/>
                </a:lnSpc>
                <a:spcBef>
                  <a:spcPct val="0"/>
                </a:spcBef>
              </a:pPr>
              <a:r>
                <a:rPr lang="en-US" sz="2449">
                  <a:solidFill>
                    <a:srgbClr val="F5F5F5"/>
                  </a:solidFill>
                  <a:latin typeface="Clear Sans"/>
                  <a:ea typeface="Clear Sans"/>
                  <a:cs typeface="Clear Sans"/>
                  <a:sym typeface="Clear Sans"/>
                </a:rPr>
                <a:t>The goal of this project was to:</a:t>
              </a:r>
            </a:p>
            <a:p>
              <a:pPr algn="l" marL="528913" indent="-264457" lvl="1">
                <a:lnSpc>
                  <a:spcPts val="3429"/>
                </a:lnSpc>
                <a:spcBef>
                  <a:spcPct val="0"/>
                </a:spcBef>
                <a:buFont typeface="Arial"/>
                <a:buChar char="•"/>
              </a:pPr>
              <a:r>
                <a:rPr lang="en-US" sz="2449">
                  <a:solidFill>
                    <a:srgbClr val="F5F5F5"/>
                  </a:solidFill>
                  <a:latin typeface="Clear Sans"/>
                  <a:ea typeface="Clear Sans"/>
                  <a:cs typeface="Clear Sans"/>
                  <a:sym typeface="Clear Sans"/>
                </a:rPr>
                <a:t>Understand which products perform best</a:t>
              </a:r>
            </a:p>
            <a:p>
              <a:pPr algn="l" marL="528913" indent="-264457" lvl="1">
                <a:lnSpc>
                  <a:spcPts val="3429"/>
                </a:lnSpc>
                <a:spcBef>
                  <a:spcPct val="0"/>
                </a:spcBef>
                <a:buFont typeface="Arial"/>
                <a:buChar char="•"/>
              </a:pPr>
              <a:r>
                <a:rPr lang="en-US" sz="2449">
                  <a:solidFill>
                    <a:srgbClr val="F5F5F5"/>
                  </a:solidFill>
                  <a:latin typeface="Clear Sans"/>
                  <a:ea typeface="Clear Sans"/>
                  <a:cs typeface="Clear Sans"/>
                  <a:sym typeface="Clear Sans"/>
                </a:rPr>
                <a:t>Analyze how pricing affects customer satisfaction</a:t>
              </a:r>
            </a:p>
            <a:p>
              <a:pPr algn="l" marL="528913" indent="-264457" lvl="1">
                <a:lnSpc>
                  <a:spcPts val="3429"/>
                </a:lnSpc>
                <a:spcBef>
                  <a:spcPct val="0"/>
                </a:spcBef>
                <a:buFont typeface="Arial"/>
                <a:buChar char="•"/>
              </a:pPr>
              <a:r>
                <a:rPr lang="en-US" sz="2449">
                  <a:solidFill>
                    <a:srgbClr val="F5F5F5"/>
                  </a:solidFill>
                  <a:latin typeface="Clear Sans"/>
                  <a:ea typeface="Clear Sans"/>
                  <a:cs typeface="Clear Sans"/>
                  <a:sym typeface="Clear Sans"/>
                </a:rPr>
                <a:t>Measure customer sentiment</a:t>
              </a:r>
            </a:p>
            <a:p>
              <a:pPr algn="l" marL="528913" indent="-264457" lvl="1">
                <a:lnSpc>
                  <a:spcPts val="3429"/>
                </a:lnSpc>
                <a:spcBef>
                  <a:spcPct val="0"/>
                </a:spcBef>
                <a:buFont typeface="Arial"/>
                <a:buChar char="•"/>
              </a:pPr>
              <a:r>
                <a:rPr lang="en-US" sz="2449">
                  <a:solidFill>
                    <a:srgbClr val="F5F5F5"/>
                  </a:solidFill>
                  <a:latin typeface="Clear Sans"/>
                  <a:ea typeface="Clear Sans"/>
                  <a:cs typeface="Clear Sans"/>
                  <a:sym typeface="Clear Sans"/>
                </a:rPr>
                <a:t>Identify high-performing and underperforming dishes</a:t>
              </a:r>
            </a:p>
            <a:p>
              <a:pPr algn="l" marL="528913" indent="-264457" lvl="1">
                <a:lnSpc>
                  <a:spcPts val="3429"/>
                </a:lnSpc>
                <a:spcBef>
                  <a:spcPct val="0"/>
                </a:spcBef>
                <a:buFont typeface="Arial"/>
                <a:buChar char="•"/>
              </a:pPr>
              <a:r>
                <a:rPr lang="en-US" sz="2449">
                  <a:solidFill>
                    <a:srgbClr val="F5F5F5"/>
                  </a:solidFill>
                  <a:latin typeface="Clear Sans"/>
                  <a:ea typeface="Clear Sans"/>
                  <a:cs typeface="Clear Sans"/>
                  <a:sym typeface="Clear Sans"/>
                </a:rPr>
                <a:t>Provide data-driven business recommendations</a:t>
              </a:r>
            </a:p>
            <a:p>
              <a:pPr algn="l" marL="0" indent="0" lvl="0">
                <a:lnSpc>
                  <a:spcPts val="3429"/>
                </a:lnSpc>
                <a:spcBef>
                  <a:spcPct val="0"/>
                </a:spcBef>
              </a:pPr>
            </a:p>
          </p:txBody>
        </p:sp>
        <p:sp>
          <p:nvSpPr>
            <p:cNvPr name="TextBox 8" id="8"/>
            <p:cNvSpPr txBox="true"/>
            <p:nvPr/>
          </p:nvSpPr>
          <p:spPr>
            <a:xfrm rot="0">
              <a:off x="0" y="6257636"/>
              <a:ext cx="14257004" cy="611482"/>
            </a:xfrm>
            <a:prstGeom prst="rect">
              <a:avLst/>
            </a:prstGeom>
          </p:spPr>
          <p:txBody>
            <a:bodyPr anchor="t" rtlCol="false" tIns="0" lIns="0" bIns="0" rIns="0">
              <a:spAutoFit/>
            </a:bodyPr>
            <a:lstStyle/>
            <a:p>
              <a:pPr algn="l" marL="0" indent="0" lvl="0">
                <a:lnSpc>
                  <a:spcPts val="3859"/>
                </a:lnSpc>
                <a:spcBef>
                  <a:spcPct val="0"/>
                </a:spcBef>
              </a:pPr>
              <a:r>
                <a:rPr lang="en-US" b="true" sz="2756">
                  <a:solidFill>
                    <a:srgbClr val="F5F5F5"/>
                  </a:solidFill>
                  <a:latin typeface="Clear Sans Medium"/>
                  <a:ea typeface="Clear Sans Medium"/>
                  <a:cs typeface="Clear Sans Medium"/>
                  <a:sym typeface="Clear Sans Medium"/>
                </a:rPr>
                <a:t>IMPORTANCE</a:t>
              </a:r>
            </a:p>
          </p:txBody>
        </p:sp>
        <p:sp>
          <p:nvSpPr>
            <p:cNvPr name="TextBox 9" id="9"/>
            <p:cNvSpPr txBox="true"/>
            <p:nvPr/>
          </p:nvSpPr>
          <p:spPr>
            <a:xfrm rot="0">
              <a:off x="0" y="7066370"/>
              <a:ext cx="14257004" cy="1107658"/>
            </a:xfrm>
            <a:prstGeom prst="rect">
              <a:avLst/>
            </a:prstGeom>
          </p:spPr>
          <p:txBody>
            <a:bodyPr anchor="t" rtlCol="false" tIns="0" lIns="0" bIns="0" rIns="0">
              <a:spAutoFit/>
            </a:bodyPr>
            <a:lstStyle/>
            <a:p>
              <a:pPr algn="l" marL="0" indent="0" lvl="0">
                <a:lnSpc>
                  <a:spcPts val="3429"/>
                </a:lnSpc>
                <a:spcBef>
                  <a:spcPct val="0"/>
                </a:spcBef>
              </a:pPr>
              <a:r>
                <a:rPr lang="en-US" sz="2449">
                  <a:solidFill>
                    <a:srgbClr val="F5F5F5"/>
                  </a:solidFill>
                  <a:latin typeface="Clear Sans"/>
                  <a:ea typeface="Clear Sans"/>
                  <a:cs typeface="Clear Sans"/>
                  <a:sym typeface="Clear Sans"/>
                </a:rPr>
                <a:t>Understanding food trends is critical for effective pricing, product strategy, and retaining customers in a competitive marketplace.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05025" y="1562100"/>
            <a:ext cx="14077950" cy="1055948"/>
          </a:xfrm>
          <a:prstGeom prst="rect">
            <a:avLst/>
          </a:prstGeom>
        </p:spPr>
        <p:txBody>
          <a:bodyPr anchor="t" rtlCol="false" tIns="0" lIns="0" bIns="0" rIns="0">
            <a:spAutoFit/>
          </a:bodyPr>
          <a:lstStyle/>
          <a:p>
            <a:pPr algn="ctr" marL="0" indent="0" lvl="0">
              <a:lnSpc>
                <a:spcPts val="8399"/>
              </a:lnSpc>
            </a:pPr>
            <a:r>
              <a:rPr lang="en-US" sz="6999" spc="-139">
                <a:solidFill>
                  <a:srgbClr val="F28C28"/>
                </a:solidFill>
                <a:latin typeface="Tenor Sans"/>
                <a:ea typeface="Tenor Sans"/>
                <a:cs typeface="Tenor Sans"/>
                <a:sym typeface="Tenor Sans"/>
              </a:rPr>
              <a:t>Problem Statement</a:t>
            </a:r>
          </a:p>
        </p:txBody>
      </p:sp>
      <p:sp>
        <p:nvSpPr>
          <p:cNvPr name="TextBox 4" id="4"/>
          <p:cNvSpPr txBox="true"/>
          <p:nvPr/>
        </p:nvSpPr>
        <p:spPr>
          <a:xfrm rot="0">
            <a:off x="1415852" y="3161590"/>
            <a:ext cx="14373293" cy="4311391"/>
          </a:xfrm>
          <a:prstGeom prst="rect">
            <a:avLst/>
          </a:prstGeom>
        </p:spPr>
        <p:txBody>
          <a:bodyPr anchor="t" rtlCol="false" tIns="0" lIns="0" bIns="0" rIns="0">
            <a:spAutoFit/>
          </a:bodyPr>
          <a:lstStyle/>
          <a:p>
            <a:pPr algn="just">
              <a:lnSpc>
                <a:spcPts val="3400"/>
              </a:lnSpc>
              <a:spcBef>
                <a:spcPct val="0"/>
              </a:spcBef>
            </a:pPr>
            <a:r>
              <a:rPr lang="en-US" sz="2833" spc="-56">
                <a:solidFill>
                  <a:srgbClr val="000000"/>
                </a:solidFill>
                <a:latin typeface="Tenor Sans"/>
                <a:ea typeface="Tenor Sans"/>
                <a:cs typeface="Tenor Sans"/>
                <a:sym typeface="Tenor Sans"/>
              </a:rPr>
              <a:t>In the rapidly growing food-tech industry, platforms like Swiggy host thousands of restaurants and menu items, generating massive volumes of customer data in the form of ratings, pricing, and engagement metrics. However, raw data alone does not provide actionable insights. The key challenge is to analyze this large dataset to understand customer preferences, identify high-performing and underperforming products, evaluate the impact of pricing on satisfaction, and measure overall customer sentiment. This project aims to transform raw menu and review data into meaningful business intelligence through data cleaning, modeling, visualization, and sentiment analysis, enabling data-driven decision-making for menu optimization, pricing strategy, and customer satisfaction improvement.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2775902" y="3628877"/>
            <a:ext cx="13675945" cy="5054241"/>
          </a:xfrm>
          <a:custGeom>
            <a:avLst/>
            <a:gdLst/>
            <a:ahLst/>
            <a:cxnLst/>
            <a:rect r="r" b="b" t="t" l="l"/>
            <a:pathLst>
              <a:path h="5054241" w="13675945">
                <a:moveTo>
                  <a:pt x="0" y="0"/>
                </a:moveTo>
                <a:lnTo>
                  <a:pt x="13675945" y="0"/>
                </a:lnTo>
                <a:lnTo>
                  <a:pt x="13675945" y="5054240"/>
                </a:lnTo>
                <a:lnTo>
                  <a:pt x="0" y="5054240"/>
                </a:lnTo>
                <a:lnTo>
                  <a:pt x="0" y="0"/>
                </a:lnTo>
                <a:close/>
              </a:path>
            </a:pathLst>
          </a:custGeom>
          <a:blipFill>
            <a:blip r:embed="rId4"/>
            <a:stretch>
              <a:fillRect l="0" t="0" r="0" b="-8026"/>
            </a:stretch>
          </a:blipFill>
        </p:spPr>
      </p:sp>
      <p:sp>
        <p:nvSpPr>
          <p:cNvPr name="TextBox 4" id="4"/>
          <p:cNvSpPr txBox="true"/>
          <p:nvPr/>
        </p:nvSpPr>
        <p:spPr>
          <a:xfrm rot="0">
            <a:off x="666750" y="1562086"/>
            <a:ext cx="8324850"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Dataset Overview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666750" y="1562086"/>
            <a:ext cx="15381988"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Dataset : Swiggy All Menus – India</a:t>
            </a:r>
          </a:p>
        </p:txBody>
      </p:sp>
      <p:grpSp>
        <p:nvGrpSpPr>
          <p:cNvPr name="Group 4" id="4"/>
          <p:cNvGrpSpPr/>
          <p:nvPr/>
        </p:nvGrpSpPr>
        <p:grpSpPr>
          <a:xfrm rot="0">
            <a:off x="1297455" y="3238797"/>
            <a:ext cx="15693091" cy="5256924"/>
            <a:chOff x="0" y="0"/>
            <a:chExt cx="20924121" cy="7009232"/>
          </a:xfrm>
        </p:grpSpPr>
        <p:sp>
          <p:nvSpPr>
            <p:cNvPr name="TextBox 5" id="5"/>
            <p:cNvSpPr txBox="true"/>
            <p:nvPr/>
          </p:nvSpPr>
          <p:spPr>
            <a:xfrm rot="0">
              <a:off x="0" y="-47625"/>
              <a:ext cx="20924121" cy="539683"/>
            </a:xfrm>
            <a:prstGeom prst="rect">
              <a:avLst/>
            </a:prstGeom>
          </p:spPr>
          <p:txBody>
            <a:bodyPr anchor="t" rtlCol="false" tIns="0" lIns="0" bIns="0" rIns="0">
              <a:spAutoFit/>
            </a:bodyPr>
            <a:lstStyle/>
            <a:p>
              <a:pPr algn="l" marL="0" indent="0" lvl="0">
                <a:lnSpc>
                  <a:spcPts val="3434"/>
                </a:lnSpc>
                <a:spcBef>
                  <a:spcPct val="0"/>
                </a:spcBef>
              </a:pPr>
              <a:r>
                <a:rPr lang="en-US" b="true" sz="2452">
                  <a:solidFill>
                    <a:srgbClr val="F5F5F5"/>
                  </a:solidFill>
                  <a:latin typeface="Clear Sans Medium"/>
                  <a:ea typeface="Clear Sans Medium"/>
                  <a:cs typeface="Clear Sans Medium"/>
                  <a:sym typeface="Clear Sans Medium"/>
                </a:rPr>
                <a:t>DATASET</a:t>
              </a:r>
              <a:r>
                <a:rPr lang="en-US" b="true" sz="2452">
                  <a:solidFill>
                    <a:srgbClr val="F5F5F5"/>
                  </a:solidFill>
                  <a:latin typeface="Clear Sans Medium"/>
                  <a:ea typeface="Clear Sans Medium"/>
                  <a:cs typeface="Clear Sans Medium"/>
                  <a:sym typeface="Clear Sans Medium"/>
                </a:rPr>
                <a:t> DESCRIPTION</a:t>
              </a:r>
            </a:p>
          </p:txBody>
        </p:sp>
        <p:sp>
          <p:nvSpPr>
            <p:cNvPr name="TextBox 6" id="6"/>
            <p:cNvSpPr txBox="true"/>
            <p:nvPr/>
          </p:nvSpPr>
          <p:spPr>
            <a:xfrm rot="0">
              <a:off x="0" y="699852"/>
              <a:ext cx="20924121" cy="4000066"/>
            </a:xfrm>
            <a:prstGeom prst="rect">
              <a:avLst/>
            </a:prstGeom>
          </p:spPr>
          <p:txBody>
            <a:bodyPr anchor="t" rtlCol="false" tIns="0" lIns="0" bIns="0" rIns="0">
              <a:spAutoFit/>
            </a:bodyPr>
            <a:lstStyle/>
            <a:p>
              <a:pPr algn="l" marL="0" indent="0" lvl="0">
                <a:lnSpc>
                  <a:spcPts val="3037"/>
                </a:lnSpc>
                <a:spcBef>
                  <a:spcPct val="0"/>
                </a:spcBef>
              </a:pPr>
              <a:r>
                <a:rPr lang="en-US" sz="2169">
                  <a:solidFill>
                    <a:srgbClr val="F5F5F5"/>
                  </a:solidFill>
                  <a:latin typeface="Clear Sans"/>
                  <a:ea typeface="Clear Sans"/>
                  <a:cs typeface="Clear Sans"/>
                  <a:sym typeface="Clear Sans"/>
                </a:rPr>
                <a:t>The dataset used for this project is the “Swiggy All Menus – India” dataset, which contains detailed information about restaurant menu items across India, primarily focused on Bengaluru, Karnataka. The dataset consists of over </a:t>
              </a:r>
              <a:r>
                <a:rPr lang="en-US" sz="2169">
                  <a:solidFill>
                    <a:srgbClr val="F5F5F5"/>
                  </a:solidFill>
                  <a:latin typeface="Clear Sans"/>
                  <a:ea typeface="Clear Sans"/>
                  <a:cs typeface="Clear Sans"/>
                  <a:sym typeface="Clear Sans"/>
                </a:rPr>
                <a:t>197,</a:t>
              </a:r>
              <a:r>
                <a:rPr lang="en-US" sz="2169">
                  <a:solidFill>
                    <a:srgbClr val="F5F5F5"/>
                  </a:solidFill>
                  <a:latin typeface="Clear Sans"/>
                  <a:ea typeface="Clear Sans"/>
                  <a:cs typeface="Clear Sans"/>
                  <a:sym typeface="Clear Sans"/>
                </a:rPr>
                <a:t>00</a:t>
              </a:r>
              <a:r>
                <a:rPr lang="en-US" sz="2169">
                  <a:solidFill>
                    <a:srgbClr val="F5F5F5"/>
                  </a:solidFill>
                  <a:latin typeface="Clear Sans"/>
                  <a:ea typeface="Clear Sans"/>
                  <a:cs typeface="Clear Sans"/>
                  <a:sym typeface="Clear Sans"/>
                </a:rPr>
                <a:t>0 r</a:t>
              </a:r>
              <a:r>
                <a:rPr lang="en-US" sz="2169">
                  <a:solidFill>
                    <a:srgbClr val="F5F5F5"/>
                  </a:solidFill>
                  <a:latin typeface="Clear Sans"/>
                  <a:ea typeface="Clear Sans"/>
                  <a:cs typeface="Clear Sans"/>
                  <a:sym typeface="Clear Sans"/>
                </a:rPr>
                <a:t>ec</a:t>
              </a:r>
              <a:r>
                <a:rPr lang="en-US" sz="2169">
                  <a:solidFill>
                    <a:srgbClr val="F5F5F5"/>
                  </a:solidFill>
                  <a:latin typeface="Clear Sans"/>
                  <a:ea typeface="Clear Sans"/>
                  <a:cs typeface="Clear Sans"/>
                  <a:sym typeface="Clear Sans"/>
                </a:rPr>
                <a:t>o</a:t>
              </a:r>
              <a:r>
                <a:rPr lang="en-US" sz="2169">
                  <a:solidFill>
                    <a:srgbClr val="F5F5F5"/>
                  </a:solidFill>
                  <a:latin typeface="Clear Sans"/>
                  <a:ea typeface="Clear Sans"/>
                  <a:cs typeface="Clear Sans"/>
                  <a:sym typeface="Clear Sans"/>
                </a:rPr>
                <a:t>rd</a:t>
              </a:r>
              <a:r>
                <a:rPr lang="en-US" sz="2169">
                  <a:solidFill>
                    <a:srgbClr val="F5F5F5"/>
                  </a:solidFill>
                  <a:latin typeface="Clear Sans"/>
                  <a:ea typeface="Clear Sans"/>
                  <a:cs typeface="Clear Sans"/>
                  <a:sym typeface="Clear Sans"/>
                </a:rPr>
                <a:t>s</a:t>
              </a:r>
              <a:r>
                <a:rPr lang="en-US" sz="2169">
                  <a:solidFill>
                    <a:srgbClr val="F5F5F5"/>
                  </a:solidFill>
                  <a:latin typeface="Clear Sans"/>
                  <a:ea typeface="Clear Sans"/>
                  <a:cs typeface="Clear Sans"/>
                  <a:sym typeface="Clear Sans"/>
                </a:rPr>
                <a:t> and 9 columns, where each row represents a unique dish offered by a restaurant. It includes both categorical and numerical attributes such as State, City, Restaurant Name, Location, Category, Dish Name, Price (INR), Rating (on a 0–5 scale), and Rating Count. This dataset enables comprehensive analysis of customer preferences, pricing strategies, engagement levels, and sentiment patterns. Its large size and diverse attributes make it suitable for business intelligence, product performance analysis, and sentiment-based customer behavior modeling.</a:t>
              </a:r>
            </a:p>
            <a:p>
              <a:pPr algn="l" marL="0" indent="0" lvl="0">
                <a:lnSpc>
                  <a:spcPts val="3037"/>
                </a:lnSpc>
                <a:spcBef>
                  <a:spcPct val="0"/>
                </a:spcBef>
              </a:pPr>
            </a:p>
          </p:txBody>
        </p:sp>
        <p:sp>
          <p:nvSpPr>
            <p:cNvPr name="TextBox 7" id="7"/>
            <p:cNvSpPr txBox="true"/>
            <p:nvPr/>
          </p:nvSpPr>
          <p:spPr>
            <a:xfrm rot="0">
              <a:off x="0" y="4903914"/>
              <a:ext cx="20924121" cy="539683"/>
            </a:xfrm>
            <a:prstGeom prst="rect">
              <a:avLst/>
            </a:prstGeom>
          </p:spPr>
          <p:txBody>
            <a:bodyPr anchor="t" rtlCol="false" tIns="0" lIns="0" bIns="0" rIns="0">
              <a:spAutoFit/>
            </a:bodyPr>
            <a:lstStyle/>
            <a:p>
              <a:pPr algn="l" marL="0" indent="0" lvl="0">
                <a:lnSpc>
                  <a:spcPts val="3434"/>
                </a:lnSpc>
                <a:spcBef>
                  <a:spcPct val="0"/>
                </a:spcBef>
              </a:pPr>
              <a:r>
                <a:rPr lang="en-US" b="true" sz="2452">
                  <a:solidFill>
                    <a:srgbClr val="F5F5F5"/>
                  </a:solidFill>
                  <a:latin typeface="Clear Sans Medium"/>
                  <a:ea typeface="Clear Sans Medium"/>
                  <a:cs typeface="Clear Sans Medium"/>
                  <a:sym typeface="Clear Sans Medium"/>
                </a:rPr>
                <a:t>KEY FIELDS</a:t>
              </a:r>
            </a:p>
          </p:txBody>
        </p:sp>
        <p:sp>
          <p:nvSpPr>
            <p:cNvPr name="TextBox 8" id="8"/>
            <p:cNvSpPr txBox="true"/>
            <p:nvPr/>
          </p:nvSpPr>
          <p:spPr>
            <a:xfrm rot="0">
              <a:off x="0" y="6028613"/>
              <a:ext cx="20924121" cy="980618"/>
            </a:xfrm>
            <a:prstGeom prst="rect">
              <a:avLst/>
            </a:prstGeom>
          </p:spPr>
          <p:txBody>
            <a:bodyPr anchor="t" rtlCol="false" tIns="0" lIns="0" bIns="0" rIns="0">
              <a:spAutoFit/>
            </a:bodyPr>
            <a:lstStyle/>
            <a:p>
              <a:pPr algn="l" marL="0" indent="0" lvl="0">
                <a:lnSpc>
                  <a:spcPts val="3037"/>
                </a:lnSpc>
                <a:spcBef>
                  <a:spcPct val="0"/>
                </a:spcBef>
              </a:pPr>
              <a:r>
                <a:rPr lang="en-US" sz="2169">
                  <a:solidFill>
                    <a:srgbClr val="F5F5F5"/>
                  </a:solidFill>
                  <a:latin typeface="Clear Sans"/>
                  <a:ea typeface="Clear Sans"/>
                  <a:cs typeface="Clear Sans"/>
                  <a:sym typeface="Clear Sans"/>
                </a:rPr>
                <a:t>Key fields include </a:t>
              </a:r>
              <a:r>
                <a:rPr lang="en-US" b="true" sz="2169">
                  <a:solidFill>
                    <a:srgbClr val="F5F5F5"/>
                  </a:solidFill>
                  <a:latin typeface="Clear Sans Bold"/>
                  <a:ea typeface="Clear Sans Bold"/>
                  <a:cs typeface="Clear Sans Bold"/>
                  <a:sym typeface="Clear Sans Bold"/>
                </a:rPr>
                <a:t>Price, Rating, Review Count</a:t>
              </a:r>
              <a:r>
                <a:rPr lang="en-US" sz="2169">
                  <a:solidFill>
                    <a:srgbClr val="F5F5F5"/>
                  </a:solidFill>
                  <a:latin typeface="Clear Sans"/>
                  <a:ea typeface="Clear Sans"/>
                  <a:cs typeface="Clear Sans"/>
                  <a:sym typeface="Clear Sans"/>
                </a:rPr>
                <a:t>, and </a:t>
              </a:r>
              <a:r>
                <a:rPr lang="en-US" b="true" sz="2169">
                  <a:solidFill>
                    <a:srgbClr val="F5F5F5"/>
                  </a:solidFill>
                  <a:latin typeface="Clear Sans Bold"/>
                  <a:ea typeface="Clear Sans Bold"/>
                  <a:cs typeface="Clear Sans Bold"/>
                  <a:sym typeface="Clear Sans Bold"/>
                </a:rPr>
                <a:t>Category</a:t>
              </a:r>
              <a:r>
                <a:rPr lang="en-US" sz="2169">
                  <a:solidFill>
                    <a:srgbClr val="F5F5F5"/>
                  </a:solidFill>
                  <a:latin typeface="Clear Sans"/>
                  <a:ea typeface="Clear Sans"/>
                  <a:cs typeface="Clear Sans"/>
                  <a:sym typeface="Clear Sans"/>
                </a:rPr>
                <a:t>, enabling a comprehensive analysis of consumer trends and food preferences.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TextBox 2" id="2"/>
          <p:cNvSpPr txBox="true"/>
          <p:nvPr/>
        </p:nvSpPr>
        <p:spPr>
          <a:xfrm rot="0">
            <a:off x="1028700" y="809915"/>
            <a:ext cx="14585572" cy="1057275"/>
          </a:xfrm>
          <a:prstGeom prst="rect">
            <a:avLst/>
          </a:prstGeom>
        </p:spPr>
        <p:txBody>
          <a:bodyPr anchor="t" rtlCol="false" tIns="0" lIns="0" bIns="0" rIns="0">
            <a:spAutoFit/>
          </a:bodyPr>
          <a:lstStyle/>
          <a:p>
            <a:pPr algn="just" marL="0" indent="0" lvl="0">
              <a:lnSpc>
                <a:spcPts val="8399"/>
              </a:lnSpc>
            </a:pPr>
            <a:r>
              <a:rPr lang="en-US" sz="6999" spc="-139">
                <a:solidFill>
                  <a:srgbClr val="F5F5F5"/>
                </a:solidFill>
                <a:latin typeface="Tenor Sans"/>
                <a:ea typeface="Tenor Sans"/>
                <a:cs typeface="Tenor Sans"/>
                <a:sym typeface="Tenor Sans"/>
              </a:rPr>
              <a:t>Data Cleaning Process</a:t>
            </a:r>
          </a:p>
        </p:txBody>
      </p:sp>
      <p:sp>
        <p:nvSpPr>
          <p:cNvPr name="Freeform 3" id="3"/>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9556660" y="2971783"/>
            <a:ext cx="7366516" cy="409575"/>
          </a:xfrm>
          <a:prstGeom prst="rect">
            <a:avLst/>
          </a:prstGeom>
        </p:spPr>
        <p:txBody>
          <a:bodyPr anchor="t" rtlCol="false" tIns="0" lIns="0" bIns="0" rIns="0">
            <a:spAutoFit/>
          </a:bodyPr>
          <a:lstStyle/>
          <a:p>
            <a:pPr algn="just">
              <a:lnSpc>
                <a:spcPts val="3109"/>
              </a:lnSpc>
              <a:spcBef>
                <a:spcPct val="0"/>
              </a:spcBef>
            </a:pPr>
            <a:r>
              <a:rPr lang="en-US" sz="2591" spc="-51">
                <a:solidFill>
                  <a:srgbClr val="F5F5F5"/>
                </a:solidFill>
                <a:latin typeface="Tenor Sans"/>
                <a:ea typeface="Tenor Sans"/>
                <a:cs typeface="Tenor Sans"/>
                <a:sym typeface="Tenor Sans"/>
              </a:rPr>
              <a:t> DATA MODELING &amp; FEATURE ENGINEERING</a:t>
            </a:r>
          </a:p>
        </p:txBody>
      </p:sp>
      <p:sp>
        <p:nvSpPr>
          <p:cNvPr name="TextBox 5" id="5"/>
          <p:cNvSpPr txBox="true"/>
          <p:nvPr/>
        </p:nvSpPr>
        <p:spPr>
          <a:xfrm rot="0">
            <a:off x="1784651" y="2971783"/>
            <a:ext cx="3873341" cy="409575"/>
          </a:xfrm>
          <a:prstGeom prst="rect">
            <a:avLst/>
          </a:prstGeom>
        </p:spPr>
        <p:txBody>
          <a:bodyPr anchor="t" rtlCol="false" tIns="0" lIns="0" bIns="0" rIns="0">
            <a:spAutoFit/>
          </a:bodyPr>
          <a:lstStyle/>
          <a:p>
            <a:pPr algn="ctr">
              <a:lnSpc>
                <a:spcPts val="3120"/>
              </a:lnSpc>
              <a:spcBef>
                <a:spcPct val="0"/>
              </a:spcBef>
            </a:pPr>
            <a:r>
              <a:rPr lang="en-US" sz="2600" spc="-52">
                <a:solidFill>
                  <a:srgbClr val="F5F5F5"/>
                </a:solidFill>
                <a:latin typeface="Tenor Sans"/>
                <a:ea typeface="Tenor Sans"/>
                <a:cs typeface="Tenor Sans"/>
                <a:sym typeface="Tenor Sans"/>
              </a:rPr>
              <a:t>DATA CLEANING STEPS</a:t>
            </a:r>
          </a:p>
        </p:txBody>
      </p:sp>
      <p:sp>
        <p:nvSpPr>
          <p:cNvPr name="TextBox 6" id="6"/>
          <p:cNvSpPr txBox="true"/>
          <p:nvPr/>
        </p:nvSpPr>
        <p:spPr>
          <a:xfrm rot="0">
            <a:off x="1784651" y="3877056"/>
            <a:ext cx="6089048" cy="3323844"/>
          </a:xfrm>
          <a:prstGeom prst="rect">
            <a:avLst/>
          </a:prstGeom>
        </p:spPr>
        <p:txBody>
          <a:bodyPr anchor="t" rtlCol="false" tIns="0" lIns="0" bIns="0" rIns="0">
            <a:spAutoFit/>
          </a:bodyPr>
          <a:lstStyle/>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Corrected data types (text &amp; numeric validation)</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Removed null values</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Filtered unrated dishes (Rating = 0)</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Removed duplicates</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Trimmed and standardized text values</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Standardized category formatting</a:t>
            </a:r>
          </a:p>
          <a:p>
            <a:pPr algn="l" marL="526396" indent="-263198" lvl="1">
              <a:lnSpc>
                <a:spcPts val="2925"/>
              </a:lnSpc>
              <a:buFont typeface="Arial"/>
              <a:buChar char="•"/>
            </a:pPr>
            <a:r>
              <a:rPr lang="en-US" sz="2438" spc="-48">
                <a:solidFill>
                  <a:srgbClr val="F5F5F5"/>
                </a:solidFill>
                <a:latin typeface="Tenor Sans"/>
                <a:ea typeface="Tenor Sans"/>
                <a:cs typeface="Tenor Sans"/>
                <a:sym typeface="Tenor Sans"/>
              </a:rPr>
              <a:t>Created sorted order columns (Price Range, Sentiment)</a:t>
            </a:r>
          </a:p>
        </p:txBody>
      </p:sp>
      <p:sp>
        <p:nvSpPr>
          <p:cNvPr name="TextBox 7" id="7"/>
          <p:cNvSpPr txBox="true"/>
          <p:nvPr/>
        </p:nvSpPr>
        <p:spPr>
          <a:xfrm rot="0">
            <a:off x="9781569" y="3900487"/>
            <a:ext cx="6916698" cy="2476500"/>
          </a:xfrm>
          <a:prstGeom prst="rect">
            <a:avLst/>
          </a:prstGeom>
        </p:spPr>
        <p:txBody>
          <a:bodyPr anchor="t" rtlCol="false" tIns="0" lIns="0" bIns="0" rIns="0">
            <a:spAutoFit/>
          </a:bodyPr>
          <a:lstStyle/>
          <a:p>
            <a:pPr algn="l">
              <a:lnSpc>
                <a:spcPts val="2647"/>
              </a:lnSpc>
            </a:pPr>
            <a:r>
              <a:rPr lang="en-US" sz="2206" spc="-44">
                <a:solidFill>
                  <a:srgbClr val="F5F5F5"/>
                </a:solidFill>
                <a:latin typeface="Tenor Sans"/>
                <a:ea typeface="Tenor Sans"/>
                <a:cs typeface="Tenor Sans"/>
                <a:sym typeface="Tenor Sans"/>
              </a:rPr>
              <a:t>Calculated Columns Created</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Price Range (Budget, Mid-Range, Premium, Luxury)</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Engagement Level (Low, Medium, High, Very High)</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Highly Rated flag</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Popularity Score (Rating × Review Count)</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Sentiment classification (Positive / Neutral / Negative)</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Sentiment Score</a:t>
            </a:r>
          </a:p>
          <a:p>
            <a:pPr algn="l" marL="433208" indent="-216604" lvl="1">
              <a:lnSpc>
                <a:spcPts val="2407"/>
              </a:lnSpc>
              <a:buFont typeface="Arial"/>
              <a:buChar char="•"/>
            </a:pPr>
            <a:r>
              <a:rPr lang="en-US" sz="2006" spc="-40">
                <a:solidFill>
                  <a:srgbClr val="F5F5F5"/>
                </a:solidFill>
                <a:latin typeface="Tenor Sans"/>
                <a:ea typeface="Tenor Sans"/>
                <a:cs typeface="Tenor Sans"/>
                <a:sym typeface="Tenor Sans"/>
              </a:rPr>
              <a:t>Price Range Order</a:t>
            </a:r>
          </a:p>
        </p:txBody>
      </p:sp>
      <p:sp>
        <p:nvSpPr>
          <p:cNvPr name="TextBox 8" id="8"/>
          <p:cNvSpPr txBox="true"/>
          <p:nvPr/>
        </p:nvSpPr>
        <p:spPr>
          <a:xfrm rot="0">
            <a:off x="9892784" y="6553200"/>
            <a:ext cx="6694268" cy="2705100"/>
          </a:xfrm>
          <a:prstGeom prst="rect">
            <a:avLst/>
          </a:prstGeom>
        </p:spPr>
        <p:txBody>
          <a:bodyPr anchor="t" rtlCol="false" tIns="0" lIns="0" bIns="0" rIns="0">
            <a:spAutoFit/>
          </a:bodyPr>
          <a:lstStyle/>
          <a:p>
            <a:pPr algn="l">
              <a:lnSpc>
                <a:spcPts val="2879"/>
              </a:lnSpc>
            </a:pPr>
            <a:r>
              <a:rPr lang="en-US" sz="2399" spc="-47">
                <a:solidFill>
                  <a:srgbClr val="F5F5F5"/>
                </a:solidFill>
                <a:latin typeface="Tenor Sans"/>
                <a:ea typeface="Tenor Sans"/>
                <a:cs typeface="Tenor Sans"/>
                <a:sym typeface="Tenor Sans"/>
              </a:rPr>
              <a:t>Measures Created (DAX)</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Total Dishes</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Total Reviews</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Average Price</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Weighted Average Rating</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Sentiment Index</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Ranking measures</a:t>
            </a:r>
          </a:p>
          <a:p>
            <a:pPr algn="l" marL="474921" indent="-237461" lvl="1">
              <a:lnSpc>
                <a:spcPts val="2639"/>
              </a:lnSpc>
              <a:buFont typeface="Arial"/>
              <a:buChar char="•"/>
            </a:pPr>
            <a:r>
              <a:rPr lang="en-US" sz="2199" spc="-43">
                <a:solidFill>
                  <a:srgbClr val="F5F5F5"/>
                </a:solidFill>
                <a:latin typeface="Tenor Sans"/>
                <a:ea typeface="Tenor Sans"/>
                <a:cs typeface="Tenor Sans"/>
                <a:sym typeface="Tenor Sans"/>
              </a:rPr>
              <a:t>Funnel stage metrics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629068" y="3027718"/>
            <a:ext cx="10581592" cy="5953112"/>
          </a:xfrm>
          <a:custGeom>
            <a:avLst/>
            <a:gdLst/>
            <a:ahLst/>
            <a:cxnLst/>
            <a:rect r="r" b="b" t="t" l="l"/>
            <a:pathLst>
              <a:path h="5953112" w="10581592">
                <a:moveTo>
                  <a:pt x="0" y="0"/>
                </a:moveTo>
                <a:lnTo>
                  <a:pt x="10581592" y="0"/>
                </a:lnTo>
                <a:lnTo>
                  <a:pt x="10581592" y="5953111"/>
                </a:lnTo>
                <a:lnTo>
                  <a:pt x="0" y="5953111"/>
                </a:lnTo>
                <a:lnTo>
                  <a:pt x="0" y="0"/>
                </a:lnTo>
                <a:close/>
              </a:path>
            </a:pathLst>
          </a:custGeom>
          <a:blipFill>
            <a:blip r:embed="rId4"/>
            <a:stretch>
              <a:fillRect l="-3545" t="0" r="-2532" b="0"/>
            </a:stretch>
          </a:blipFill>
        </p:spPr>
      </p:sp>
      <p:sp>
        <p:nvSpPr>
          <p:cNvPr name="TextBox 4" id="4"/>
          <p:cNvSpPr txBox="true"/>
          <p:nvPr/>
        </p:nvSpPr>
        <p:spPr>
          <a:xfrm rot="0">
            <a:off x="819150" y="1451473"/>
            <a:ext cx="16201428" cy="1057275"/>
          </a:xfrm>
          <a:prstGeom prst="rect">
            <a:avLst/>
          </a:prstGeom>
        </p:spPr>
        <p:txBody>
          <a:bodyPr anchor="t" rtlCol="false" tIns="0" lIns="0" bIns="0" rIns="0">
            <a:spAutoFit/>
          </a:bodyPr>
          <a:lstStyle/>
          <a:p>
            <a:pPr algn="just" marL="0" indent="0" lvl="0">
              <a:lnSpc>
                <a:spcPts val="8399"/>
              </a:lnSpc>
            </a:pPr>
            <a:r>
              <a:rPr lang="en-US" sz="6999" spc="-139">
                <a:solidFill>
                  <a:srgbClr val="F5F5F5"/>
                </a:solidFill>
                <a:latin typeface="Tenor Sans"/>
                <a:ea typeface="Tenor Sans"/>
                <a:cs typeface="Tenor Sans"/>
                <a:sym typeface="Tenor Sans"/>
              </a:rPr>
              <a:t>DATA VISUALIZATION – OVERVIEW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621106" y="2967363"/>
            <a:ext cx="10597517" cy="5869394"/>
          </a:xfrm>
          <a:custGeom>
            <a:avLst/>
            <a:gdLst/>
            <a:ahLst/>
            <a:cxnLst/>
            <a:rect r="r" b="b" t="t" l="l"/>
            <a:pathLst>
              <a:path h="5869394" w="10597517">
                <a:moveTo>
                  <a:pt x="0" y="0"/>
                </a:moveTo>
                <a:lnTo>
                  <a:pt x="10597516" y="0"/>
                </a:lnTo>
                <a:lnTo>
                  <a:pt x="10597516" y="5869394"/>
                </a:lnTo>
                <a:lnTo>
                  <a:pt x="0" y="5869394"/>
                </a:lnTo>
                <a:lnTo>
                  <a:pt x="0" y="0"/>
                </a:lnTo>
                <a:close/>
              </a:path>
            </a:pathLst>
          </a:custGeom>
          <a:blipFill>
            <a:blip r:embed="rId4"/>
            <a:stretch>
              <a:fillRect l="0" t="0" r="0" b="0"/>
            </a:stretch>
          </a:blipFill>
        </p:spPr>
      </p:sp>
      <p:sp>
        <p:nvSpPr>
          <p:cNvPr name="TextBox 4" id="4"/>
          <p:cNvSpPr txBox="true"/>
          <p:nvPr/>
        </p:nvSpPr>
        <p:spPr>
          <a:xfrm rot="0">
            <a:off x="819150" y="1451473"/>
            <a:ext cx="16201428" cy="1057275"/>
          </a:xfrm>
          <a:prstGeom prst="rect">
            <a:avLst/>
          </a:prstGeom>
        </p:spPr>
        <p:txBody>
          <a:bodyPr anchor="t" rtlCol="false" tIns="0" lIns="0" bIns="0" rIns="0">
            <a:spAutoFit/>
          </a:bodyPr>
          <a:lstStyle/>
          <a:p>
            <a:pPr algn="just" marL="0" indent="0" lvl="0">
              <a:lnSpc>
                <a:spcPts val="8399"/>
              </a:lnSpc>
            </a:pPr>
            <a:r>
              <a:rPr lang="en-US" sz="6999" spc="-139">
                <a:solidFill>
                  <a:srgbClr val="F5F5F5"/>
                </a:solidFill>
                <a:latin typeface="Tenor Sans"/>
                <a:ea typeface="Tenor Sans"/>
                <a:cs typeface="Tenor Sans"/>
                <a:sym typeface="Tenor Sans"/>
              </a:rPr>
              <a:t>DATA VISUALIZATION – OVERVIEW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757905" cy="1274980"/>
          </a:xfrm>
        </p:grpSpPr>
        <p:sp>
          <p:nvSpPr>
            <p:cNvPr name="Freeform 3" id="3"/>
            <p:cNvSpPr/>
            <p:nvPr/>
          </p:nvSpPr>
          <p:spPr>
            <a:xfrm flipH="false" flipV="false" rot="0">
              <a:off x="0" y="0"/>
              <a:ext cx="757905" cy="1274980"/>
            </a:xfrm>
            <a:custGeom>
              <a:avLst/>
              <a:gdLst/>
              <a:ahLst/>
              <a:cxnLst/>
              <a:rect r="r" b="b" t="t" l="l"/>
              <a:pathLst>
                <a:path h="1274980" w="757905">
                  <a:moveTo>
                    <a:pt x="0" y="0"/>
                  </a:moveTo>
                  <a:lnTo>
                    <a:pt x="757905" y="0"/>
                  </a:lnTo>
                  <a:lnTo>
                    <a:pt x="757905" y="1274980"/>
                  </a:lnTo>
                  <a:lnTo>
                    <a:pt x="0" y="1274980"/>
                  </a:lnTo>
                  <a:close/>
                </a:path>
              </a:pathLst>
            </a:custGeom>
            <a:blipFill>
              <a:blip r:embed="rId2"/>
              <a:stretch>
                <a:fillRect l="0" t="-58" r="0" b="-58"/>
              </a:stretch>
            </a:blipFill>
          </p:spPr>
        </p:sp>
      </p:gr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5" id="5"/>
          <p:cNvSpPr txBox="true"/>
          <p:nvPr/>
        </p:nvSpPr>
        <p:spPr>
          <a:xfrm rot="0">
            <a:off x="7444280" y="1237329"/>
            <a:ext cx="8973419" cy="3591546"/>
          </a:xfrm>
          <a:prstGeom prst="rect">
            <a:avLst/>
          </a:prstGeom>
        </p:spPr>
        <p:txBody>
          <a:bodyPr anchor="t" rtlCol="false" tIns="0" lIns="0" bIns="0" rIns="0">
            <a:spAutoFit/>
          </a:bodyPr>
          <a:lstStyle/>
          <a:p>
            <a:pPr algn="l">
              <a:lnSpc>
                <a:spcPts val="3930"/>
              </a:lnSpc>
            </a:pPr>
            <a:r>
              <a:rPr lang="en-US" sz="3275" spc="-65">
                <a:solidFill>
                  <a:srgbClr val="1800AD"/>
                </a:solidFill>
                <a:latin typeface="Clear Sans"/>
                <a:ea typeface="Clear Sans"/>
                <a:cs typeface="Clear Sans"/>
                <a:sym typeface="Clear Sans"/>
              </a:rPr>
              <a:t>Dashboard Components</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KPI Cards (Total Dishes, Reviews, Avg Rating, Avg Price)</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Category performance charts</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Price vs Rating comparison</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Location performance map</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Weighted rating by price range</a:t>
            </a:r>
          </a:p>
          <a:p>
            <a:pPr algn="l" marL="635441" indent="-317720" lvl="1">
              <a:lnSpc>
                <a:spcPts val="3531"/>
              </a:lnSpc>
              <a:buFont typeface="Arial"/>
              <a:buChar char="•"/>
            </a:pPr>
            <a:r>
              <a:rPr lang="en-US" sz="2943" spc="-58">
                <a:solidFill>
                  <a:srgbClr val="000000"/>
                </a:solidFill>
                <a:latin typeface="Clear Sans"/>
                <a:ea typeface="Clear Sans"/>
                <a:cs typeface="Clear Sans"/>
                <a:sym typeface="Clear Sans"/>
              </a:rPr>
              <a:t>Highly Rated classification</a:t>
            </a:r>
          </a:p>
        </p:txBody>
      </p:sp>
      <p:sp>
        <p:nvSpPr>
          <p:cNvPr name="TextBox 6" id="6"/>
          <p:cNvSpPr txBox="true"/>
          <p:nvPr/>
        </p:nvSpPr>
        <p:spPr>
          <a:xfrm rot="0">
            <a:off x="7444280" y="5143500"/>
            <a:ext cx="8973419" cy="2286000"/>
          </a:xfrm>
          <a:prstGeom prst="rect">
            <a:avLst/>
          </a:prstGeom>
        </p:spPr>
        <p:txBody>
          <a:bodyPr anchor="t" rtlCol="false" tIns="0" lIns="0" bIns="0" rIns="0">
            <a:spAutoFit/>
          </a:bodyPr>
          <a:lstStyle/>
          <a:p>
            <a:pPr algn="l">
              <a:lnSpc>
                <a:spcPts val="3911"/>
              </a:lnSpc>
            </a:pPr>
            <a:r>
              <a:rPr lang="en-US" sz="3259" spc="-65">
                <a:solidFill>
                  <a:srgbClr val="1800AD"/>
                </a:solidFill>
                <a:latin typeface="Clear Sans"/>
                <a:ea typeface="Clear Sans"/>
                <a:cs typeface="Clear Sans"/>
                <a:sym typeface="Clear Sans"/>
              </a:rPr>
              <a:t>Key Insights</a:t>
            </a:r>
          </a:p>
          <a:p>
            <a:pPr algn="l" marL="639003" indent="-319502" lvl="1">
              <a:lnSpc>
                <a:spcPts val="3551"/>
              </a:lnSpc>
              <a:buFont typeface="Arial"/>
              <a:buChar char="•"/>
            </a:pPr>
            <a:r>
              <a:rPr lang="en-US" sz="2959" spc="-59">
                <a:solidFill>
                  <a:srgbClr val="000000"/>
                </a:solidFill>
                <a:latin typeface="Clear Sans"/>
                <a:ea typeface="Clear Sans"/>
                <a:cs typeface="Clear Sans"/>
                <a:sym typeface="Clear Sans"/>
              </a:rPr>
              <a:t>Budget and Mid-Range products dominate engagement.</a:t>
            </a:r>
          </a:p>
          <a:p>
            <a:pPr algn="l" marL="639003" indent="-319502" lvl="1">
              <a:lnSpc>
                <a:spcPts val="3551"/>
              </a:lnSpc>
              <a:buFont typeface="Arial"/>
              <a:buChar char="•"/>
            </a:pPr>
            <a:r>
              <a:rPr lang="en-US" sz="2959" spc="-59">
                <a:solidFill>
                  <a:srgbClr val="000000"/>
                </a:solidFill>
                <a:latin typeface="Clear Sans"/>
                <a:ea typeface="Clear Sans"/>
                <a:cs typeface="Clear Sans"/>
                <a:sym typeface="Clear Sans"/>
              </a:rPr>
              <a:t>Overall weighted rating is strong (~4.3+).</a:t>
            </a:r>
          </a:p>
          <a:p>
            <a:pPr algn="l" marL="639003" indent="-319502" lvl="1">
              <a:lnSpc>
                <a:spcPts val="3551"/>
              </a:lnSpc>
              <a:buFont typeface="Arial"/>
              <a:buChar char="•"/>
            </a:pPr>
            <a:r>
              <a:rPr lang="en-US" sz="2959" spc="-59">
                <a:solidFill>
                  <a:srgbClr val="000000"/>
                </a:solidFill>
                <a:latin typeface="Clear Sans"/>
                <a:ea typeface="Clear Sans"/>
                <a:cs typeface="Clear Sans"/>
                <a:sym typeface="Clear Sans"/>
              </a:rPr>
              <a:t>High-rated dishes represent majority of products.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986918" y="3381533"/>
            <a:ext cx="10633772" cy="5876767"/>
          </a:xfrm>
          <a:custGeom>
            <a:avLst/>
            <a:gdLst/>
            <a:ahLst/>
            <a:cxnLst/>
            <a:rect r="r" b="b" t="t" l="l"/>
            <a:pathLst>
              <a:path h="5876767" w="10633772">
                <a:moveTo>
                  <a:pt x="0" y="0"/>
                </a:moveTo>
                <a:lnTo>
                  <a:pt x="10633772" y="0"/>
                </a:lnTo>
                <a:lnTo>
                  <a:pt x="10633772" y="5876767"/>
                </a:lnTo>
                <a:lnTo>
                  <a:pt x="0" y="5876767"/>
                </a:lnTo>
                <a:lnTo>
                  <a:pt x="0" y="0"/>
                </a:lnTo>
                <a:close/>
              </a:path>
            </a:pathLst>
          </a:custGeom>
          <a:blipFill>
            <a:blip r:embed="rId4"/>
            <a:stretch>
              <a:fillRect l="0" t="0" r="0" b="0"/>
            </a:stretch>
          </a:blipFill>
        </p:spPr>
      </p:sp>
      <p:sp>
        <p:nvSpPr>
          <p:cNvPr name="TextBox 4" id="4"/>
          <p:cNvSpPr txBox="true"/>
          <p:nvPr/>
        </p:nvSpPr>
        <p:spPr>
          <a:xfrm rot="0">
            <a:off x="666750" y="1562086"/>
            <a:ext cx="14800873"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SENTIMENT ANALYSIS MODULE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757905" cy="1274980"/>
          </a:xfrm>
        </p:grpSpPr>
        <p:sp>
          <p:nvSpPr>
            <p:cNvPr name="Freeform 3" id="3"/>
            <p:cNvSpPr/>
            <p:nvPr/>
          </p:nvSpPr>
          <p:spPr>
            <a:xfrm flipH="false" flipV="false" rot="0">
              <a:off x="0" y="0"/>
              <a:ext cx="757905" cy="1274980"/>
            </a:xfrm>
            <a:custGeom>
              <a:avLst/>
              <a:gdLst/>
              <a:ahLst/>
              <a:cxnLst/>
              <a:rect r="r" b="b" t="t" l="l"/>
              <a:pathLst>
                <a:path h="1274980" w="757905">
                  <a:moveTo>
                    <a:pt x="0" y="0"/>
                  </a:moveTo>
                  <a:lnTo>
                    <a:pt x="757905" y="0"/>
                  </a:lnTo>
                  <a:lnTo>
                    <a:pt x="757905" y="1274980"/>
                  </a:lnTo>
                  <a:lnTo>
                    <a:pt x="0" y="1274980"/>
                  </a:lnTo>
                  <a:close/>
                </a:path>
              </a:pathLst>
            </a:custGeom>
            <a:blipFill>
              <a:blip r:embed="rId2"/>
              <a:stretch>
                <a:fillRect l="0" t="-58" r="0" b="-58"/>
              </a:stretch>
            </a:blipFill>
          </p:spPr>
        </p:sp>
      </p:gr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5" id="5"/>
          <p:cNvSpPr txBox="true"/>
          <p:nvPr/>
        </p:nvSpPr>
        <p:spPr>
          <a:xfrm rot="0">
            <a:off x="7061978" y="1328798"/>
            <a:ext cx="8111970" cy="3534483"/>
          </a:xfrm>
          <a:prstGeom prst="rect">
            <a:avLst/>
          </a:prstGeom>
        </p:spPr>
        <p:txBody>
          <a:bodyPr anchor="t" rtlCol="false" tIns="0" lIns="0" bIns="0" rIns="0">
            <a:spAutoFit/>
          </a:bodyPr>
          <a:lstStyle/>
          <a:p>
            <a:pPr algn="just">
              <a:lnSpc>
                <a:spcPts val="3759"/>
              </a:lnSpc>
              <a:spcBef>
                <a:spcPct val="0"/>
              </a:spcBef>
            </a:pPr>
            <a:r>
              <a:rPr lang="en-US" b="true" sz="2685">
                <a:solidFill>
                  <a:srgbClr val="1800AD"/>
                </a:solidFill>
                <a:latin typeface="Clear Sans Medium"/>
                <a:ea typeface="Clear Sans Medium"/>
                <a:cs typeface="Clear Sans Medium"/>
                <a:sym typeface="Clear Sans Medium"/>
              </a:rPr>
              <a:t>SENTIMENT CONVERSION LOGIC</a:t>
            </a:r>
          </a:p>
          <a:p>
            <a:pPr algn="just">
              <a:lnSpc>
                <a:spcPts val="3512"/>
              </a:lnSpc>
              <a:spcBef>
                <a:spcPct val="0"/>
              </a:spcBef>
            </a:pPr>
            <a:r>
              <a:rPr lang="en-US" b="true" sz="2509">
                <a:solidFill>
                  <a:srgbClr val="000000"/>
                </a:solidFill>
                <a:latin typeface="Clear Sans Medium"/>
                <a:ea typeface="Clear Sans Medium"/>
                <a:cs typeface="Clear Sans Medium"/>
                <a:sym typeface="Clear Sans Medium"/>
              </a:rPr>
              <a:t>RATINGS WERE CONVERTED INTO SENTIMENT CATEGORIES:</a:t>
            </a:r>
          </a:p>
          <a:p>
            <a:pPr algn="just">
              <a:lnSpc>
                <a:spcPts val="3512"/>
              </a:lnSpc>
              <a:spcBef>
                <a:spcPct val="0"/>
              </a:spcBef>
            </a:pPr>
            <a:r>
              <a:rPr lang="en-US" b="true" sz="2509">
                <a:solidFill>
                  <a:srgbClr val="000000"/>
                </a:solidFill>
                <a:latin typeface="Clear Sans Medium"/>
                <a:ea typeface="Clear Sans Medium"/>
                <a:cs typeface="Clear Sans Medium"/>
                <a:sym typeface="Clear Sans Medium"/>
              </a:rPr>
              <a:t>POSITIVE (≥ 4)</a:t>
            </a:r>
          </a:p>
          <a:p>
            <a:pPr algn="just">
              <a:lnSpc>
                <a:spcPts val="3512"/>
              </a:lnSpc>
              <a:spcBef>
                <a:spcPct val="0"/>
              </a:spcBef>
            </a:pPr>
            <a:r>
              <a:rPr lang="en-US" b="true" sz="2509">
                <a:solidFill>
                  <a:srgbClr val="000000"/>
                </a:solidFill>
                <a:latin typeface="Clear Sans Medium"/>
                <a:ea typeface="Clear Sans Medium"/>
                <a:cs typeface="Clear Sans Medium"/>
                <a:sym typeface="Clear Sans Medium"/>
              </a:rPr>
              <a:t>NEUTRAL (3–3.9)</a:t>
            </a:r>
          </a:p>
          <a:p>
            <a:pPr algn="just">
              <a:lnSpc>
                <a:spcPts val="3512"/>
              </a:lnSpc>
              <a:spcBef>
                <a:spcPct val="0"/>
              </a:spcBef>
            </a:pPr>
            <a:r>
              <a:rPr lang="en-US" b="true" sz="2509">
                <a:solidFill>
                  <a:srgbClr val="000000"/>
                </a:solidFill>
                <a:latin typeface="Clear Sans Medium"/>
                <a:ea typeface="Clear Sans Medium"/>
                <a:cs typeface="Clear Sans Medium"/>
                <a:sym typeface="Clear Sans Medium"/>
              </a:rPr>
              <a:t>NEGATIVE (&lt; 3)</a:t>
            </a:r>
          </a:p>
          <a:p>
            <a:pPr algn="just">
              <a:lnSpc>
                <a:spcPts val="3512"/>
              </a:lnSpc>
              <a:spcBef>
                <a:spcPct val="0"/>
              </a:spcBef>
            </a:pPr>
            <a:r>
              <a:rPr lang="en-US" b="true" sz="2509">
                <a:solidFill>
                  <a:srgbClr val="000000"/>
                </a:solidFill>
                <a:latin typeface="Clear Sans Medium"/>
                <a:ea typeface="Clear Sans Medium"/>
                <a:cs typeface="Clear Sans Medium"/>
                <a:sym typeface="Clear Sans Medium"/>
              </a:rPr>
              <a:t>A WEIGHTED SENTIMENT INDEX WAS CALCULATED TO MEASURE OVERALL EMOTIONAL STRENGTH.</a:t>
            </a:r>
          </a:p>
        </p:txBody>
      </p:sp>
      <p:sp>
        <p:nvSpPr>
          <p:cNvPr name="TextBox 6" id="6"/>
          <p:cNvSpPr txBox="true"/>
          <p:nvPr/>
        </p:nvSpPr>
        <p:spPr>
          <a:xfrm rot="0">
            <a:off x="7061978" y="5219086"/>
            <a:ext cx="5494142" cy="521335"/>
          </a:xfrm>
          <a:prstGeom prst="rect">
            <a:avLst/>
          </a:prstGeom>
        </p:spPr>
        <p:txBody>
          <a:bodyPr anchor="t" rtlCol="false" tIns="0" lIns="0" bIns="0" rIns="0">
            <a:spAutoFit/>
          </a:bodyPr>
          <a:lstStyle/>
          <a:p>
            <a:pPr algn="ctr">
              <a:lnSpc>
                <a:spcPts val="4339"/>
              </a:lnSpc>
              <a:spcBef>
                <a:spcPct val="0"/>
              </a:spcBef>
            </a:pPr>
            <a:r>
              <a:rPr lang="en-US" b="true" sz="3099">
                <a:solidFill>
                  <a:srgbClr val="1800AD"/>
                </a:solidFill>
                <a:latin typeface="Clear Sans Medium"/>
                <a:ea typeface="Clear Sans Medium"/>
                <a:cs typeface="Clear Sans Medium"/>
                <a:sym typeface="Clear Sans Medium"/>
              </a:rPr>
              <a:t>SENTIMENT DASHBOARD KPIS</a:t>
            </a:r>
          </a:p>
        </p:txBody>
      </p:sp>
      <p:sp>
        <p:nvSpPr>
          <p:cNvPr name="TextBox 7" id="7"/>
          <p:cNvSpPr txBox="true"/>
          <p:nvPr/>
        </p:nvSpPr>
        <p:spPr>
          <a:xfrm rot="0">
            <a:off x="7061978" y="6078798"/>
            <a:ext cx="8598533" cy="2258163"/>
          </a:xfrm>
          <a:prstGeom prst="rect">
            <a:avLst/>
          </a:prstGeom>
        </p:spPr>
        <p:txBody>
          <a:bodyPr anchor="t" rtlCol="false" tIns="0" lIns="0" bIns="0" rIns="0">
            <a:spAutoFit/>
          </a:bodyPr>
          <a:lstStyle/>
          <a:p>
            <a:pPr algn="l">
              <a:lnSpc>
                <a:spcPts val="3666"/>
              </a:lnSpc>
              <a:spcBef>
                <a:spcPct val="0"/>
              </a:spcBef>
            </a:pPr>
            <a:r>
              <a:rPr lang="en-US" b="true" sz="2618">
                <a:solidFill>
                  <a:srgbClr val="000000"/>
                </a:solidFill>
                <a:latin typeface="Clear Sans Medium"/>
                <a:ea typeface="Clear Sans Medium"/>
                <a:cs typeface="Clear Sans Medium"/>
                <a:sym typeface="Clear Sans Medium"/>
              </a:rPr>
              <a:t>POSITIVE SENTIMENT: 80.51%</a:t>
            </a:r>
          </a:p>
          <a:p>
            <a:pPr algn="l">
              <a:lnSpc>
                <a:spcPts val="3666"/>
              </a:lnSpc>
              <a:spcBef>
                <a:spcPct val="0"/>
              </a:spcBef>
            </a:pPr>
            <a:r>
              <a:rPr lang="en-US" b="true" sz="2618">
                <a:solidFill>
                  <a:srgbClr val="000000"/>
                </a:solidFill>
                <a:latin typeface="Clear Sans Medium"/>
                <a:ea typeface="Clear Sans Medium"/>
                <a:cs typeface="Clear Sans Medium"/>
                <a:sym typeface="Clear Sans Medium"/>
              </a:rPr>
              <a:t>NEUTRAL SENTIMENT: 16.79%</a:t>
            </a:r>
          </a:p>
          <a:p>
            <a:pPr algn="l">
              <a:lnSpc>
                <a:spcPts val="3666"/>
              </a:lnSpc>
              <a:spcBef>
                <a:spcPct val="0"/>
              </a:spcBef>
            </a:pPr>
            <a:r>
              <a:rPr lang="en-US" b="true" sz="2618">
                <a:solidFill>
                  <a:srgbClr val="000000"/>
                </a:solidFill>
                <a:latin typeface="Clear Sans Medium"/>
                <a:ea typeface="Clear Sans Medium"/>
                <a:cs typeface="Clear Sans Medium"/>
                <a:sym typeface="Clear Sans Medium"/>
              </a:rPr>
              <a:t>NEGATIVE SENTIMENT: 2.70%</a:t>
            </a:r>
          </a:p>
          <a:p>
            <a:pPr algn="l">
              <a:lnSpc>
                <a:spcPts val="3666"/>
              </a:lnSpc>
              <a:spcBef>
                <a:spcPct val="0"/>
              </a:spcBef>
            </a:pPr>
            <a:r>
              <a:rPr lang="en-US" b="true" sz="2618">
                <a:solidFill>
                  <a:srgbClr val="000000"/>
                </a:solidFill>
                <a:latin typeface="Clear Sans Medium"/>
                <a:ea typeface="Clear Sans Medium"/>
                <a:cs typeface="Clear Sans Medium"/>
                <a:sym typeface="Clear Sans Medium"/>
              </a:rPr>
              <a:t>TOTAL REVIEWS: 523K</a:t>
            </a:r>
          </a:p>
          <a:p>
            <a:pPr algn="l">
              <a:lnSpc>
                <a:spcPts val="3666"/>
              </a:lnSpc>
              <a:spcBef>
                <a:spcPct val="0"/>
              </a:spcBef>
            </a:pPr>
            <a:r>
              <a:rPr lang="en-US" b="true" sz="2618">
                <a:solidFill>
                  <a:srgbClr val="000000"/>
                </a:solidFill>
                <a:latin typeface="Clear Sans Medium"/>
                <a:ea typeface="Clear Sans Medium"/>
                <a:cs typeface="Clear Sans Medium"/>
                <a:sym typeface="Clear Sans Medium"/>
              </a:rPr>
              <a:t>SENTIMENT INDEX: 0.89</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2015739" y="3989483"/>
            <a:ext cx="2550758" cy="2926383"/>
          </a:xfrm>
          <a:custGeom>
            <a:avLst/>
            <a:gdLst/>
            <a:ahLst/>
            <a:cxnLst/>
            <a:rect r="r" b="b" t="t" l="l"/>
            <a:pathLst>
              <a:path h="2926383" w="2550758">
                <a:moveTo>
                  <a:pt x="0" y="0"/>
                </a:moveTo>
                <a:lnTo>
                  <a:pt x="2550758" y="0"/>
                </a:lnTo>
                <a:lnTo>
                  <a:pt x="2550758" y="2926383"/>
                </a:lnTo>
                <a:lnTo>
                  <a:pt x="0" y="2926383"/>
                </a:lnTo>
                <a:lnTo>
                  <a:pt x="0" y="0"/>
                </a:lnTo>
                <a:close/>
              </a:path>
            </a:pathLst>
          </a:custGeom>
          <a:blipFill>
            <a:blip r:embed="rId4"/>
            <a:stretch>
              <a:fillRect l="0" t="0" r="0" b="0"/>
            </a:stretch>
          </a:blipFill>
        </p:spPr>
      </p:sp>
      <p:sp>
        <p:nvSpPr>
          <p:cNvPr name="Freeform 4" id="4"/>
          <p:cNvSpPr/>
          <p:nvPr/>
        </p:nvSpPr>
        <p:spPr>
          <a:xfrm flipH="false" flipV="false" rot="0">
            <a:off x="5336670" y="3512814"/>
            <a:ext cx="1847620" cy="3563364"/>
          </a:xfrm>
          <a:custGeom>
            <a:avLst/>
            <a:gdLst/>
            <a:ahLst/>
            <a:cxnLst/>
            <a:rect r="r" b="b" t="t" l="l"/>
            <a:pathLst>
              <a:path h="3563364" w="1847620">
                <a:moveTo>
                  <a:pt x="0" y="0"/>
                </a:moveTo>
                <a:lnTo>
                  <a:pt x="1847620" y="0"/>
                </a:lnTo>
                <a:lnTo>
                  <a:pt x="1847620" y="3563363"/>
                </a:lnTo>
                <a:lnTo>
                  <a:pt x="0" y="3563363"/>
                </a:lnTo>
                <a:lnTo>
                  <a:pt x="0" y="0"/>
                </a:lnTo>
                <a:close/>
              </a:path>
            </a:pathLst>
          </a:custGeom>
          <a:blipFill>
            <a:blip r:embed="rId5"/>
            <a:stretch>
              <a:fillRect l="-4379" t="0" r="-3794" b="0"/>
            </a:stretch>
          </a:blipFill>
        </p:spPr>
      </p:sp>
      <p:sp>
        <p:nvSpPr>
          <p:cNvPr name="TextBox 5" id="5"/>
          <p:cNvSpPr txBox="true"/>
          <p:nvPr/>
        </p:nvSpPr>
        <p:spPr>
          <a:xfrm rot="0">
            <a:off x="1332201" y="1028700"/>
            <a:ext cx="8324850" cy="2114550"/>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Sentiment Analysis by Pricing Strategy</a:t>
            </a:r>
          </a:p>
        </p:txBody>
      </p:sp>
      <p:grpSp>
        <p:nvGrpSpPr>
          <p:cNvPr name="Group 6" id="6"/>
          <p:cNvGrpSpPr/>
          <p:nvPr/>
        </p:nvGrpSpPr>
        <p:grpSpPr>
          <a:xfrm rot="0">
            <a:off x="10668307" y="3152929"/>
            <a:ext cx="5448300" cy="5532693"/>
            <a:chOff x="0" y="0"/>
            <a:chExt cx="7264400" cy="7376924"/>
          </a:xfrm>
        </p:grpSpPr>
        <p:sp>
          <p:nvSpPr>
            <p:cNvPr name="TextBox 7" id="7"/>
            <p:cNvSpPr txBox="true"/>
            <p:nvPr/>
          </p:nvSpPr>
          <p:spPr>
            <a:xfrm rot="0">
              <a:off x="0" y="-47625"/>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BUDGET PRICING INSIGHTS</a:t>
              </a:r>
            </a:p>
          </p:txBody>
        </p:sp>
        <p:sp>
          <p:nvSpPr>
            <p:cNvPr name="TextBox 8" id="8"/>
            <p:cNvSpPr txBox="true"/>
            <p:nvPr/>
          </p:nvSpPr>
          <p:spPr>
            <a:xfrm rot="0">
              <a:off x="0" y="878058"/>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The budget segment shows the </a:t>
              </a:r>
              <a:r>
                <a:rPr lang="en-US" b="true" sz="2099">
                  <a:solidFill>
                    <a:srgbClr val="F5F5F5"/>
                  </a:solidFill>
                  <a:latin typeface="Clear Sans Bold"/>
                  <a:ea typeface="Clear Sans Bold"/>
                  <a:cs typeface="Clear Sans Bold"/>
                  <a:sym typeface="Clear Sans Bold"/>
                </a:rPr>
                <a:t>highest sentiment index</a:t>
              </a:r>
              <a:r>
                <a:rPr lang="en-US" sz="2099">
                  <a:solidFill>
                    <a:srgbClr val="F5F5F5"/>
                  </a:solidFill>
                  <a:latin typeface="Clear Sans"/>
                  <a:ea typeface="Clear Sans"/>
                  <a:cs typeface="Clear Sans"/>
                  <a:sym typeface="Clear Sans"/>
                </a:rPr>
                <a:t>, reflecting strong customer satisfaction and positive engagement, driving repeat purchases and loyalty.</a:t>
              </a:r>
            </a:p>
          </p:txBody>
        </p:sp>
        <p:sp>
          <p:nvSpPr>
            <p:cNvPr name="TextBox 9" id="9"/>
            <p:cNvSpPr txBox="true"/>
            <p:nvPr/>
          </p:nvSpPr>
          <p:spPr>
            <a:xfrm rot="0">
              <a:off x="0" y="4023921"/>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PREMIUM &amp; LUXURY INSIGHTS</a:t>
              </a:r>
            </a:p>
          </p:txBody>
        </p:sp>
        <p:sp>
          <p:nvSpPr>
            <p:cNvPr name="TextBox 10" id="10"/>
            <p:cNvSpPr txBox="true"/>
            <p:nvPr/>
          </p:nvSpPr>
          <p:spPr>
            <a:xfrm rot="0">
              <a:off x="0" y="4949603"/>
              <a:ext cx="7264400" cy="2427320"/>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Premium and luxury segments exhibit </a:t>
              </a:r>
              <a:r>
                <a:rPr lang="en-US" b="true" sz="2099">
                  <a:solidFill>
                    <a:srgbClr val="F5F5F5"/>
                  </a:solidFill>
                  <a:latin typeface="Clear Sans Bold"/>
                  <a:ea typeface="Clear Sans Bold"/>
                  <a:cs typeface="Clear Sans Bold"/>
                  <a:sym typeface="Clear Sans Bold"/>
                </a:rPr>
                <a:t>lower sentiment indices</a:t>
              </a:r>
              <a:r>
                <a:rPr lang="en-US" sz="2099">
                  <a:solidFill>
                    <a:srgbClr val="F5F5F5"/>
                  </a:solidFill>
                  <a:latin typeface="Clear Sans"/>
                  <a:ea typeface="Clear Sans"/>
                  <a:cs typeface="Clear Sans"/>
                  <a:sym typeface="Clear Sans"/>
                </a:rPr>
                <a:t> compared to budget offerings, indicating potential areas for improvement in customer response strategies.</a:t>
              </a:r>
            </a:p>
          </p:txBody>
        </p:sp>
      </p:grpSp>
      <p:sp>
        <p:nvSpPr>
          <p:cNvPr name="TextBox 11" id="11"/>
          <p:cNvSpPr txBox="true"/>
          <p:nvPr/>
        </p:nvSpPr>
        <p:spPr>
          <a:xfrm rot="0">
            <a:off x="1664926" y="7398116"/>
            <a:ext cx="7659399" cy="1109727"/>
          </a:xfrm>
          <a:prstGeom prst="rect">
            <a:avLst/>
          </a:prstGeom>
        </p:spPr>
        <p:txBody>
          <a:bodyPr anchor="t" rtlCol="false" tIns="0" lIns="0" bIns="0" rIns="0">
            <a:spAutoFit/>
          </a:bodyPr>
          <a:lstStyle/>
          <a:p>
            <a:pPr algn="l">
              <a:lnSpc>
                <a:spcPts val="2932"/>
              </a:lnSpc>
              <a:spcBef>
                <a:spcPct val="0"/>
              </a:spcBef>
            </a:pPr>
            <a:r>
              <a:rPr lang="en-US" b="true" sz="2094">
                <a:solidFill>
                  <a:srgbClr val="FFFFFF"/>
                </a:solidFill>
                <a:latin typeface="Clear Sans Medium"/>
                <a:ea typeface="Clear Sans Medium"/>
                <a:cs typeface="Clear Sans Medium"/>
                <a:sym typeface="Clear Sans Medium"/>
              </a:rPr>
              <a:t>BUDGET TIER SHOWS HIGHEST SENTIMENT INDEX (~0.94)</a:t>
            </a:r>
          </a:p>
          <a:p>
            <a:pPr algn="l">
              <a:lnSpc>
                <a:spcPts val="2932"/>
              </a:lnSpc>
              <a:spcBef>
                <a:spcPct val="0"/>
              </a:spcBef>
            </a:pPr>
            <a:r>
              <a:rPr lang="en-US" b="true" sz="2094">
                <a:solidFill>
                  <a:srgbClr val="FFFFFF"/>
                </a:solidFill>
                <a:latin typeface="Clear Sans Medium"/>
                <a:ea typeface="Clear Sans Medium"/>
                <a:cs typeface="Clear Sans Medium"/>
                <a:sym typeface="Clear Sans Medium"/>
              </a:rPr>
              <a:t>PREMIUM &amp; LUXURY SLIGHTLY LOWER (~0.86)</a:t>
            </a:r>
          </a:p>
          <a:p>
            <a:pPr algn="l">
              <a:lnSpc>
                <a:spcPts val="2932"/>
              </a:lnSpc>
              <a:spcBef>
                <a:spcPct val="0"/>
              </a:spcBef>
            </a:pPr>
            <a:r>
              <a:rPr lang="en-US" b="true" sz="2094">
                <a:solidFill>
                  <a:srgbClr val="FFFFFF"/>
                </a:solidFill>
                <a:latin typeface="Clear Sans Medium"/>
                <a:ea typeface="Clear Sans Medium"/>
                <a:cs typeface="Clear Sans Medium"/>
                <a:sym typeface="Clear Sans Medium"/>
              </a:rPr>
              <a:t>EMOTIONAL STRENGTH STRONGEST IN AFFORDABLE SEGMENT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878473" y="3417303"/>
            <a:ext cx="8113127" cy="3452395"/>
          </a:xfrm>
          <a:custGeom>
            <a:avLst/>
            <a:gdLst/>
            <a:ahLst/>
            <a:cxnLst/>
            <a:rect r="r" b="b" t="t" l="l"/>
            <a:pathLst>
              <a:path h="3452395" w="8113127">
                <a:moveTo>
                  <a:pt x="0" y="0"/>
                </a:moveTo>
                <a:lnTo>
                  <a:pt x="8113127" y="0"/>
                </a:lnTo>
                <a:lnTo>
                  <a:pt x="8113127" y="3452394"/>
                </a:lnTo>
                <a:lnTo>
                  <a:pt x="0" y="3452394"/>
                </a:lnTo>
                <a:lnTo>
                  <a:pt x="0" y="0"/>
                </a:lnTo>
                <a:close/>
              </a:path>
            </a:pathLst>
          </a:custGeom>
          <a:blipFill>
            <a:blip r:embed="rId4"/>
            <a:stretch>
              <a:fillRect l="0" t="0" r="0" b="0"/>
            </a:stretch>
          </a:blipFill>
        </p:spPr>
      </p:sp>
      <p:sp>
        <p:nvSpPr>
          <p:cNvPr name="TextBox 4" id="4"/>
          <p:cNvSpPr txBox="true"/>
          <p:nvPr/>
        </p:nvSpPr>
        <p:spPr>
          <a:xfrm rot="0">
            <a:off x="644627" y="1019175"/>
            <a:ext cx="10852399" cy="1883859"/>
          </a:xfrm>
          <a:prstGeom prst="rect">
            <a:avLst/>
          </a:prstGeom>
        </p:spPr>
        <p:txBody>
          <a:bodyPr anchor="t" rtlCol="false" tIns="0" lIns="0" bIns="0" rIns="0">
            <a:spAutoFit/>
          </a:bodyPr>
          <a:lstStyle/>
          <a:p>
            <a:pPr algn="l" marL="0" indent="0" lvl="0">
              <a:lnSpc>
                <a:spcPts val="7445"/>
              </a:lnSpc>
            </a:pPr>
            <a:r>
              <a:rPr lang="en-US" sz="6204" spc="-124">
                <a:solidFill>
                  <a:srgbClr val="F5F5F5"/>
                </a:solidFill>
                <a:latin typeface="Tenor Sans"/>
                <a:ea typeface="Tenor Sans"/>
                <a:cs typeface="Tenor Sans"/>
                <a:sym typeface="Tenor Sans"/>
              </a:rPr>
              <a:t>Sentiment Distribution by Category</a:t>
            </a:r>
          </a:p>
        </p:txBody>
      </p:sp>
      <p:grpSp>
        <p:nvGrpSpPr>
          <p:cNvPr name="Group 5" id="5"/>
          <p:cNvGrpSpPr/>
          <p:nvPr/>
        </p:nvGrpSpPr>
        <p:grpSpPr>
          <a:xfrm rot="0">
            <a:off x="10734675" y="3352794"/>
            <a:ext cx="5448300" cy="5165070"/>
            <a:chOff x="0" y="0"/>
            <a:chExt cx="7264400" cy="6886761"/>
          </a:xfrm>
        </p:grpSpPr>
        <p:sp>
          <p:nvSpPr>
            <p:cNvPr name="TextBox 6" id="6"/>
            <p:cNvSpPr txBox="true"/>
            <p:nvPr/>
          </p:nvSpPr>
          <p:spPr>
            <a:xfrm rot="0">
              <a:off x="0" y="-47625"/>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RISK IDENTIFICATION</a:t>
              </a:r>
            </a:p>
          </p:txBody>
        </p:sp>
        <p:sp>
          <p:nvSpPr>
            <p:cNvPr name="TextBox 7" id="7"/>
            <p:cNvSpPr txBox="true"/>
            <p:nvPr/>
          </p:nvSpPr>
          <p:spPr>
            <a:xfrm rot="0">
              <a:off x="0" y="878058"/>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Analyzing sentiment across categories reveals trends, indicating potential </a:t>
              </a:r>
              <a:r>
                <a:rPr lang="en-US" b="true" sz="2099">
                  <a:solidFill>
                    <a:srgbClr val="F5F5F5"/>
                  </a:solidFill>
                  <a:latin typeface="Clear Sans Bold"/>
                  <a:ea typeface="Clear Sans Bold"/>
                  <a:cs typeface="Clear Sans Bold"/>
                  <a:sym typeface="Clear Sans Bold"/>
                </a:rPr>
                <a:t>risk areas</a:t>
              </a:r>
              <a:r>
                <a:rPr lang="en-US" sz="2099">
                  <a:solidFill>
                    <a:srgbClr val="F5F5F5"/>
                  </a:solidFill>
                  <a:latin typeface="Clear Sans"/>
                  <a:ea typeface="Clear Sans"/>
                  <a:cs typeface="Clear Sans"/>
                  <a:sym typeface="Clear Sans"/>
                </a:rPr>
                <a:t> where customer satisfaction may be declining significantly.</a:t>
              </a:r>
            </a:p>
          </p:txBody>
        </p:sp>
        <p:sp>
          <p:nvSpPr>
            <p:cNvPr name="TextBox 8" id="8"/>
            <p:cNvSpPr txBox="true"/>
            <p:nvPr/>
          </p:nvSpPr>
          <p:spPr>
            <a:xfrm rot="0">
              <a:off x="0" y="4023921"/>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OPPORTUNITY AREAS</a:t>
              </a:r>
            </a:p>
          </p:txBody>
        </p:sp>
        <p:sp>
          <p:nvSpPr>
            <p:cNvPr name="TextBox 9" id="9"/>
            <p:cNvSpPr txBox="true"/>
            <p:nvPr/>
          </p:nvSpPr>
          <p:spPr>
            <a:xfrm rot="0">
              <a:off x="0" y="4949603"/>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Identifying categories with high engagement can highlight </a:t>
              </a:r>
              <a:r>
                <a:rPr lang="en-US" b="true" sz="2099">
                  <a:solidFill>
                    <a:srgbClr val="F5F5F5"/>
                  </a:solidFill>
                  <a:latin typeface="Clear Sans Bold"/>
                  <a:ea typeface="Clear Sans Bold"/>
                  <a:cs typeface="Clear Sans Bold"/>
                  <a:sym typeface="Clear Sans Bold"/>
                </a:rPr>
                <a:t>opportunity areas</a:t>
              </a:r>
              <a:r>
                <a:rPr lang="en-US" sz="2099">
                  <a:solidFill>
                    <a:srgbClr val="F5F5F5"/>
                  </a:solidFill>
                  <a:latin typeface="Clear Sans"/>
                  <a:ea typeface="Clear Sans"/>
                  <a:cs typeface="Clear Sans"/>
                  <a:sym typeface="Clear Sans"/>
                </a:rPr>
                <a:t> for product innovation and marketing strategies to better meet customer needs.</a:t>
              </a:r>
            </a:p>
          </p:txBody>
        </p:sp>
      </p:grpSp>
      <p:sp>
        <p:nvSpPr>
          <p:cNvPr name="TextBox 10" id="10"/>
          <p:cNvSpPr txBox="true"/>
          <p:nvPr/>
        </p:nvSpPr>
        <p:spPr>
          <a:xfrm rot="0">
            <a:off x="1248079" y="7631849"/>
            <a:ext cx="7743521" cy="1110387"/>
          </a:xfrm>
          <a:prstGeom prst="rect">
            <a:avLst/>
          </a:prstGeom>
        </p:spPr>
        <p:txBody>
          <a:bodyPr anchor="t" rtlCol="false" tIns="0" lIns="0" bIns="0" rIns="0">
            <a:spAutoFit/>
          </a:bodyPr>
          <a:lstStyle/>
          <a:p>
            <a:pPr algn="just">
              <a:lnSpc>
                <a:spcPts val="2984"/>
              </a:lnSpc>
              <a:spcBef>
                <a:spcPct val="0"/>
              </a:spcBef>
            </a:pPr>
            <a:r>
              <a:rPr lang="en-US" b="true" sz="2132">
                <a:solidFill>
                  <a:srgbClr val="FFFFFF"/>
                </a:solidFill>
                <a:latin typeface="Clear Sans Medium"/>
                <a:ea typeface="Clear Sans Medium"/>
                <a:cs typeface="Clear Sans Medium"/>
                <a:sym typeface="Clear Sans Medium"/>
              </a:rPr>
              <a:t>MOST CATEGORIES DOMINATED BY POSITIVE SENTIMENT</a:t>
            </a:r>
          </a:p>
          <a:p>
            <a:pPr algn="just">
              <a:lnSpc>
                <a:spcPts val="2984"/>
              </a:lnSpc>
              <a:spcBef>
                <a:spcPct val="0"/>
              </a:spcBef>
            </a:pPr>
            <a:r>
              <a:rPr lang="en-US" b="true" sz="2132">
                <a:solidFill>
                  <a:srgbClr val="FFFFFF"/>
                </a:solidFill>
                <a:latin typeface="Clear Sans Medium"/>
                <a:ea typeface="Clear Sans Medium"/>
                <a:cs typeface="Clear Sans Medium"/>
                <a:sym typeface="Clear Sans Medium"/>
              </a:rPr>
              <a:t>VERY SMALL NEGATIVE SHARE ACROSS CATEGORIES</a:t>
            </a:r>
          </a:p>
          <a:p>
            <a:pPr algn="just">
              <a:lnSpc>
                <a:spcPts val="2984"/>
              </a:lnSpc>
              <a:spcBef>
                <a:spcPct val="0"/>
              </a:spcBef>
            </a:pPr>
            <a:r>
              <a:rPr lang="en-US" b="true" sz="2132">
                <a:solidFill>
                  <a:srgbClr val="FFFFFF"/>
                </a:solidFill>
                <a:latin typeface="Clear Sans Medium"/>
                <a:ea typeface="Clear Sans Medium"/>
                <a:cs typeface="Clear Sans Medium"/>
                <a:sym typeface="Clear Sans Medium"/>
              </a:rPr>
              <a:t>SOME CATEGORIES SHOW MODERATE NEUTRAL PROPORTIONS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2588611" y="2886252"/>
            <a:ext cx="12624079" cy="6992236"/>
          </a:xfrm>
          <a:custGeom>
            <a:avLst/>
            <a:gdLst/>
            <a:ahLst/>
            <a:cxnLst/>
            <a:rect r="r" b="b" t="t" l="l"/>
            <a:pathLst>
              <a:path h="6992236" w="12624079">
                <a:moveTo>
                  <a:pt x="0" y="0"/>
                </a:moveTo>
                <a:lnTo>
                  <a:pt x="12624079" y="0"/>
                </a:lnTo>
                <a:lnTo>
                  <a:pt x="12624079" y="6992237"/>
                </a:lnTo>
                <a:lnTo>
                  <a:pt x="0" y="6992237"/>
                </a:lnTo>
                <a:lnTo>
                  <a:pt x="0" y="0"/>
                </a:lnTo>
                <a:close/>
              </a:path>
            </a:pathLst>
          </a:custGeom>
          <a:blipFill>
            <a:blip r:embed="rId4"/>
            <a:stretch>
              <a:fillRect l="0" t="0" r="0" b="0"/>
            </a:stretch>
          </a:blipFill>
        </p:spPr>
      </p:sp>
      <p:sp>
        <p:nvSpPr>
          <p:cNvPr name="TextBox 4" id="4"/>
          <p:cNvSpPr txBox="true"/>
          <p:nvPr/>
        </p:nvSpPr>
        <p:spPr>
          <a:xfrm rot="0">
            <a:off x="666750" y="1562086"/>
            <a:ext cx="14165240" cy="1057275"/>
          </a:xfrm>
          <a:prstGeom prst="rect">
            <a:avLst/>
          </a:prstGeom>
        </p:spPr>
        <p:txBody>
          <a:bodyPr anchor="t" rtlCol="false" tIns="0" lIns="0" bIns="0" rIns="0">
            <a:spAutoFit/>
          </a:bodyPr>
          <a:lstStyle/>
          <a:p>
            <a:pPr algn="l" marL="0" indent="0" lvl="0">
              <a:lnSpc>
                <a:spcPts val="8399"/>
              </a:lnSpc>
            </a:pPr>
            <a:r>
              <a:rPr lang="en-US" sz="6999" spc="-139">
                <a:solidFill>
                  <a:srgbClr val="F28C28"/>
                </a:solidFill>
                <a:latin typeface="Tenor Sans"/>
                <a:ea typeface="Tenor Sans"/>
                <a:cs typeface="Tenor Sans"/>
                <a:sym typeface="Tenor Sans"/>
              </a:rPr>
              <a:t>PRODUCT</a:t>
            </a:r>
            <a:r>
              <a:rPr lang="en-US" sz="6999" spc="-139">
                <a:solidFill>
                  <a:srgbClr val="F28C28"/>
                </a:solidFill>
                <a:latin typeface="Tenor Sans"/>
                <a:ea typeface="Tenor Sans"/>
                <a:cs typeface="Tenor Sans"/>
                <a:sym typeface="Tenor Sans"/>
              </a:rPr>
              <a:t> INSIGHTS MODULE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757905" cy="1274980"/>
          </a:xfrm>
        </p:grpSpPr>
        <p:sp>
          <p:nvSpPr>
            <p:cNvPr name="Freeform 3" id="3"/>
            <p:cNvSpPr/>
            <p:nvPr/>
          </p:nvSpPr>
          <p:spPr>
            <a:xfrm flipH="false" flipV="false" rot="0">
              <a:off x="0" y="0"/>
              <a:ext cx="757905" cy="1274980"/>
            </a:xfrm>
            <a:custGeom>
              <a:avLst/>
              <a:gdLst/>
              <a:ahLst/>
              <a:cxnLst/>
              <a:rect r="r" b="b" t="t" l="l"/>
              <a:pathLst>
                <a:path h="1274980" w="757905">
                  <a:moveTo>
                    <a:pt x="0" y="0"/>
                  </a:moveTo>
                  <a:lnTo>
                    <a:pt x="757905" y="0"/>
                  </a:lnTo>
                  <a:lnTo>
                    <a:pt x="757905" y="1274980"/>
                  </a:lnTo>
                  <a:lnTo>
                    <a:pt x="0" y="1274980"/>
                  </a:lnTo>
                  <a:close/>
                </a:path>
              </a:pathLst>
            </a:custGeom>
            <a:blipFill>
              <a:blip r:embed="rId2"/>
              <a:stretch>
                <a:fillRect l="0" t="-58" r="0" b="-58"/>
              </a:stretch>
            </a:blipFill>
          </p:spPr>
        </p:sp>
      </p:gr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6905116" y="4656688"/>
            <a:ext cx="9253403" cy="3694581"/>
            <a:chOff x="0" y="0"/>
            <a:chExt cx="12337871" cy="4926108"/>
          </a:xfrm>
        </p:grpSpPr>
        <p:sp>
          <p:nvSpPr>
            <p:cNvPr name="TextBox 6" id="6"/>
            <p:cNvSpPr txBox="true"/>
            <p:nvPr/>
          </p:nvSpPr>
          <p:spPr>
            <a:xfrm rot="0">
              <a:off x="0" y="-47625"/>
              <a:ext cx="12337871"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FFFFF"/>
                  </a:solidFill>
                  <a:latin typeface="Clear Sans Medium"/>
                  <a:ea typeface="Clear Sans Medium"/>
                  <a:cs typeface="Clear Sans Medium"/>
                  <a:sym typeface="Clear Sans Medium"/>
                </a:rPr>
                <a:t>CUSTOMER SATISFACTION</a:t>
              </a:r>
            </a:p>
          </p:txBody>
        </p:sp>
        <p:sp>
          <p:nvSpPr>
            <p:cNvPr name="TextBox 7" id="7"/>
            <p:cNvSpPr txBox="true"/>
            <p:nvPr/>
          </p:nvSpPr>
          <p:spPr>
            <a:xfrm rot="0">
              <a:off x="0" y="878058"/>
              <a:ext cx="12337871"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FFFFF"/>
                  </a:solidFill>
                  <a:latin typeface="Clear Sans"/>
                  <a:ea typeface="Clear Sans"/>
                  <a:cs typeface="Clear Sans"/>
                  <a:sym typeface="Clear Sans"/>
                </a:rPr>
                <a:t>Our analysis shows </a:t>
              </a:r>
              <a:r>
                <a:rPr lang="en-US" b="true" sz="2099">
                  <a:solidFill>
                    <a:srgbClr val="FFFFFF"/>
                  </a:solidFill>
                  <a:latin typeface="Clear Sans Bold"/>
                  <a:ea typeface="Clear Sans Bold"/>
                  <a:cs typeface="Clear Sans Bold"/>
                  <a:sym typeface="Clear Sans Bold"/>
                </a:rPr>
                <a:t>strong customer satisfaction</a:t>
              </a:r>
              <a:r>
                <a:rPr lang="en-US" sz="2099">
                  <a:solidFill>
                    <a:srgbClr val="FFFFFF"/>
                  </a:solidFill>
                  <a:latin typeface="Clear Sans"/>
                  <a:ea typeface="Clear Sans"/>
                  <a:cs typeface="Clear Sans"/>
                  <a:sym typeface="Clear Sans"/>
                </a:rPr>
                <a:t>, indicating that customers feel valued and appreciated in their interactions with our platform.</a:t>
              </a:r>
            </a:p>
          </p:txBody>
        </p:sp>
        <p:sp>
          <p:nvSpPr>
            <p:cNvPr name="TextBox 8" id="8"/>
            <p:cNvSpPr txBox="true"/>
            <p:nvPr/>
          </p:nvSpPr>
          <p:spPr>
            <a:xfrm rot="0">
              <a:off x="0" y="3043595"/>
              <a:ext cx="12337871"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FFFFF"/>
                  </a:solidFill>
                  <a:latin typeface="Clear Sans Medium"/>
                  <a:ea typeface="Clear Sans Medium"/>
                  <a:cs typeface="Clear Sans Medium"/>
                  <a:sym typeface="Clear Sans Medium"/>
                </a:rPr>
                <a:t>ENGAGEMENT ALIGNMENT</a:t>
              </a:r>
            </a:p>
          </p:txBody>
        </p:sp>
        <p:sp>
          <p:nvSpPr>
            <p:cNvPr name="TextBox 9" id="9"/>
            <p:cNvSpPr txBox="true"/>
            <p:nvPr/>
          </p:nvSpPr>
          <p:spPr>
            <a:xfrm rot="0">
              <a:off x="0" y="3969277"/>
              <a:ext cx="12337871"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FFFFF"/>
                  </a:solidFill>
                  <a:latin typeface="Clear Sans"/>
                  <a:ea typeface="Clear Sans"/>
                  <a:cs typeface="Clear Sans"/>
                  <a:sym typeface="Clear Sans"/>
                </a:rPr>
                <a:t>Engagement levels are positively correlated with sentiment, suggesting that effective strategies are in place to enhance user experience and loyalty.</a:t>
              </a:r>
            </a:p>
          </p:txBody>
        </p:sp>
      </p:grpSp>
      <p:sp>
        <p:nvSpPr>
          <p:cNvPr name="TextBox 10" id="10"/>
          <p:cNvSpPr txBox="true"/>
          <p:nvPr/>
        </p:nvSpPr>
        <p:spPr>
          <a:xfrm rot="0">
            <a:off x="6728134" y="981075"/>
            <a:ext cx="8382719" cy="2659787"/>
          </a:xfrm>
          <a:prstGeom prst="rect">
            <a:avLst/>
          </a:prstGeom>
        </p:spPr>
        <p:txBody>
          <a:bodyPr anchor="t" rtlCol="false" tIns="0" lIns="0" bIns="0" rIns="0">
            <a:spAutoFit/>
          </a:bodyPr>
          <a:lstStyle/>
          <a:p>
            <a:pPr algn="just">
              <a:lnSpc>
                <a:spcPts val="3227"/>
              </a:lnSpc>
              <a:spcBef>
                <a:spcPct val="0"/>
              </a:spcBef>
            </a:pPr>
            <a:r>
              <a:rPr lang="en-US" b="true" sz="2305">
                <a:solidFill>
                  <a:srgbClr val="FFFFFF"/>
                </a:solidFill>
                <a:latin typeface="Clear Sans Medium"/>
                <a:ea typeface="Clear Sans Medium"/>
                <a:cs typeface="Clear Sans Medium"/>
                <a:sym typeface="Clear Sans Medium"/>
              </a:rPr>
              <a:t>EXECUTIVE KPIS</a:t>
            </a:r>
          </a:p>
          <a:p>
            <a:pPr algn="just">
              <a:lnSpc>
                <a:spcPts val="3227"/>
              </a:lnSpc>
              <a:spcBef>
                <a:spcPct val="0"/>
              </a:spcBef>
            </a:pPr>
          </a:p>
          <a:p>
            <a:pPr algn="l" marL="459380" indent="-229690" lvl="1">
              <a:lnSpc>
                <a:spcPts val="2978"/>
              </a:lnSpc>
              <a:buFont typeface="Arial"/>
              <a:buChar char="•"/>
            </a:pPr>
            <a:r>
              <a:rPr lang="en-US" b="true" sz="2127">
                <a:solidFill>
                  <a:srgbClr val="FFFFFF"/>
                </a:solidFill>
                <a:latin typeface="Clear Sans Medium"/>
                <a:ea typeface="Clear Sans Medium"/>
                <a:cs typeface="Clear Sans Medium"/>
                <a:sym typeface="Clear Sans Medium"/>
              </a:rPr>
              <a:t>TOTAL DISHES: 12K</a:t>
            </a:r>
          </a:p>
          <a:p>
            <a:pPr algn="l" marL="459380" indent="-229690" lvl="1">
              <a:lnSpc>
                <a:spcPts val="2978"/>
              </a:lnSpc>
              <a:buFont typeface="Arial"/>
              <a:buChar char="•"/>
            </a:pPr>
            <a:r>
              <a:rPr lang="en-US" b="true" sz="2127">
                <a:solidFill>
                  <a:srgbClr val="FFFFFF"/>
                </a:solidFill>
                <a:latin typeface="Clear Sans Medium"/>
                <a:ea typeface="Clear Sans Medium"/>
                <a:cs typeface="Clear Sans Medium"/>
                <a:sym typeface="Clear Sans Medium"/>
              </a:rPr>
              <a:t>WEIGHTED AVG RATING: 4.37</a:t>
            </a:r>
          </a:p>
          <a:p>
            <a:pPr algn="l" marL="459380" indent="-229690" lvl="1">
              <a:lnSpc>
                <a:spcPts val="2978"/>
              </a:lnSpc>
              <a:buFont typeface="Arial"/>
              <a:buChar char="•"/>
            </a:pPr>
            <a:r>
              <a:rPr lang="en-US" b="true" sz="2127">
                <a:solidFill>
                  <a:srgbClr val="FFFFFF"/>
                </a:solidFill>
                <a:latin typeface="Clear Sans Medium"/>
                <a:ea typeface="Clear Sans Medium"/>
                <a:cs typeface="Clear Sans Medium"/>
                <a:sym typeface="Clear Sans Medium"/>
              </a:rPr>
              <a:t>AVERAGE PRICE: ₹255</a:t>
            </a:r>
          </a:p>
          <a:p>
            <a:pPr algn="l" marL="459380" indent="-229690" lvl="1">
              <a:lnSpc>
                <a:spcPts val="2978"/>
              </a:lnSpc>
              <a:buFont typeface="Arial"/>
              <a:buChar char="•"/>
            </a:pPr>
            <a:r>
              <a:rPr lang="en-US" b="true" sz="2127">
                <a:solidFill>
                  <a:srgbClr val="FFFFFF"/>
                </a:solidFill>
                <a:latin typeface="Clear Sans Medium"/>
                <a:ea typeface="Clear Sans Medium"/>
                <a:cs typeface="Clear Sans Medium"/>
                <a:sym typeface="Clear Sans Medium"/>
              </a:rPr>
              <a:t>TOTAL REVIEWS: 523K</a:t>
            </a:r>
          </a:p>
          <a:p>
            <a:pPr algn="l" marL="459380" indent="-229690" lvl="1">
              <a:lnSpc>
                <a:spcPts val="2978"/>
              </a:lnSpc>
              <a:buFont typeface="Arial"/>
              <a:buChar char="•"/>
            </a:pPr>
            <a:r>
              <a:rPr lang="en-US" b="true" sz="2127">
                <a:solidFill>
                  <a:srgbClr val="FFFFFF"/>
                </a:solidFill>
                <a:latin typeface="Clear Sans Medium"/>
                <a:ea typeface="Clear Sans Medium"/>
                <a:cs typeface="Clear Sans Medium"/>
                <a:sym typeface="Clear Sans Medium"/>
              </a:rPr>
              <a:t>AVG POPULARITY SCORE: 186.35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77624" y="3109444"/>
            <a:ext cx="6120007" cy="2477976"/>
          </a:xfrm>
          <a:custGeom>
            <a:avLst/>
            <a:gdLst/>
            <a:ahLst/>
            <a:cxnLst/>
            <a:rect r="r" b="b" t="t" l="l"/>
            <a:pathLst>
              <a:path h="2477976" w="6120007">
                <a:moveTo>
                  <a:pt x="0" y="0"/>
                </a:moveTo>
                <a:lnTo>
                  <a:pt x="6120007" y="0"/>
                </a:lnTo>
                <a:lnTo>
                  <a:pt x="6120007" y="2477976"/>
                </a:lnTo>
                <a:lnTo>
                  <a:pt x="0" y="2477976"/>
                </a:lnTo>
                <a:lnTo>
                  <a:pt x="0" y="0"/>
                </a:lnTo>
                <a:close/>
              </a:path>
            </a:pathLst>
          </a:custGeom>
          <a:blipFill>
            <a:blip r:embed="rId4"/>
            <a:stretch>
              <a:fillRect l="-36871" t="-71471" r="-69404" b="-110703"/>
            </a:stretch>
          </a:blipFill>
        </p:spPr>
      </p:sp>
      <p:sp>
        <p:nvSpPr>
          <p:cNvPr name="TextBox 4" id="4"/>
          <p:cNvSpPr txBox="true"/>
          <p:nvPr/>
        </p:nvSpPr>
        <p:spPr>
          <a:xfrm rot="0">
            <a:off x="666750" y="1562086"/>
            <a:ext cx="12660897"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Top Performing Dishes</a:t>
            </a:r>
          </a:p>
        </p:txBody>
      </p:sp>
      <p:grpSp>
        <p:nvGrpSpPr>
          <p:cNvPr name="Group 5" id="5"/>
          <p:cNvGrpSpPr/>
          <p:nvPr/>
        </p:nvGrpSpPr>
        <p:grpSpPr>
          <a:xfrm rot="0">
            <a:off x="9407314" y="3109444"/>
            <a:ext cx="7461465" cy="4429826"/>
            <a:chOff x="0" y="0"/>
            <a:chExt cx="9948620" cy="5906434"/>
          </a:xfrm>
        </p:grpSpPr>
        <p:sp>
          <p:nvSpPr>
            <p:cNvPr name="TextBox 6" id="6"/>
            <p:cNvSpPr txBox="true"/>
            <p:nvPr/>
          </p:nvSpPr>
          <p:spPr>
            <a:xfrm rot="0">
              <a:off x="0" y="-47625"/>
              <a:ext cx="994862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POPULARITY INSIGHTS</a:t>
              </a:r>
            </a:p>
          </p:txBody>
        </p:sp>
        <p:sp>
          <p:nvSpPr>
            <p:cNvPr name="TextBox 7" id="7"/>
            <p:cNvSpPr txBox="true"/>
            <p:nvPr/>
          </p:nvSpPr>
          <p:spPr>
            <a:xfrm rot="0">
              <a:off x="0" y="878058"/>
              <a:ext cx="9948620" cy="1446994"/>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The top 10 dishes by popularity highlight customer preferences, showcasing </a:t>
              </a:r>
              <a:r>
                <a:rPr lang="en-US" b="true" sz="2099">
                  <a:solidFill>
                    <a:srgbClr val="F5F5F5"/>
                  </a:solidFill>
                  <a:latin typeface="Clear Sans Bold"/>
                  <a:ea typeface="Clear Sans Bold"/>
                  <a:cs typeface="Clear Sans Bold"/>
                  <a:sym typeface="Clear Sans Bold"/>
                </a:rPr>
                <a:t>high engagement</a:t>
              </a:r>
              <a:r>
                <a:rPr lang="en-US" sz="2099">
                  <a:solidFill>
                    <a:srgbClr val="F5F5F5"/>
                  </a:solidFill>
                  <a:latin typeface="Clear Sans"/>
                  <a:ea typeface="Clear Sans"/>
                  <a:cs typeface="Clear Sans"/>
                  <a:sym typeface="Clear Sans"/>
                </a:rPr>
                <a:t> and market favorites in the food business.</a:t>
              </a:r>
            </a:p>
          </p:txBody>
        </p:sp>
        <p:sp>
          <p:nvSpPr>
            <p:cNvPr name="TextBox 8" id="8"/>
            <p:cNvSpPr txBox="true"/>
            <p:nvPr/>
          </p:nvSpPr>
          <p:spPr>
            <a:xfrm rot="0">
              <a:off x="0" y="3533758"/>
              <a:ext cx="994862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ENGAGEMENT METRICS</a:t>
              </a:r>
            </a:p>
          </p:txBody>
        </p:sp>
        <p:sp>
          <p:nvSpPr>
            <p:cNvPr name="TextBox 9" id="9"/>
            <p:cNvSpPr txBox="true"/>
            <p:nvPr/>
          </p:nvSpPr>
          <p:spPr>
            <a:xfrm rot="0">
              <a:off x="0" y="4459440"/>
              <a:ext cx="9948620" cy="1446994"/>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These dishes not only attract significant attention but also demonstrate strong engagement levels, representing lucrative opportunities for strategic marketing efforts.</a:t>
              </a:r>
            </a:p>
          </p:txBody>
        </p:sp>
      </p:grpSp>
      <p:sp>
        <p:nvSpPr>
          <p:cNvPr name="TextBox 10" id="10"/>
          <p:cNvSpPr txBox="true"/>
          <p:nvPr/>
        </p:nvSpPr>
        <p:spPr>
          <a:xfrm rot="0">
            <a:off x="1692381" y="6106041"/>
            <a:ext cx="6391949" cy="2161143"/>
          </a:xfrm>
          <a:prstGeom prst="rect">
            <a:avLst/>
          </a:prstGeom>
        </p:spPr>
        <p:txBody>
          <a:bodyPr anchor="t" rtlCol="false" tIns="0" lIns="0" bIns="0" rIns="0">
            <a:spAutoFit/>
          </a:bodyPr>
          <a:lstStyle/>
          <a:p>
            <a:pPr algn="just">
              <a:lnSpc>
                <a:spcPts val="2636"/>
              </a:lnSpc>
              <a:spcBef>
                <a:spcPct val="0"/>
              </a:spcBef>
            </a:pPr>
            <a:r>
              <a:rPr lang="en-US" b="true" sz="1882">
                <a:solidFill>
                  <a:srgbClr val="F5F5F5"/>
                </a:solidFill>
                <a:latin typeface="Clear Sans Medium"/>
                <a:ea typeface="Clear Sans Medium"/>
                <a:cs typeface="Clear Sans Medium"/>
                <a:sym typeface="Clear Sans Medium"/>
              </a:rPr>
              <a:t>TOP 10 DISHES BY POPULARITY</a:t>
            </a:r>
          </a:p>
          <a:p>
            <a:pPr algn="just">
              <a:lnSpc>
                <a:spcPts val="2448"/>
              </a:lnSpc>
              <a:spcBef>
                <a:spcPct val="0"/>
              </a:spcBef>
            </a:pPr>
          </a:p>
          <a:p>
            <a:pPr algn="l" marL="377566" indent="-188783" lvl="1">
              <a:lnSpc>
                <a:spcPts val="2448"/>
              </a:lnSpc>
              <a:buFont typeface="Arial"/>
              <a:buChar char="•"/>
            </a:pPr>
            <a:r>
              <a:rPr lang="en-US" b="true" sz="1748">
                <a:solidFill>
                  <a:srgbClr val="F5F5F5"/>
                </a:solidFill>
                <a:latin typeface="Clear Sans Medium"/>
                <a:ea typeface="Clear Sans Medium"/>
                <a:cs typeface="Clear Sans Medium"/>
                <a:sym typeface="Clear Sans Medium"/>
              </a:rPr>
              <a:t>HIGH-PERFORMING DISHES COMBINE:</a:t>
            </a:r>
          </a:p>
          <a:p>
            <a:pPr algn="l" marL="377566" indent="-188783" lvl="1">
              <a:lnSpc>
                <a:spcPts val="2448"/>
              </a:lnSpc>
              <a:buFont typeface="Arial"/>
              <a:buChar char="•"/>
            </a:pPr>
            <a:r>
              <a:rPr lang="en-US" b="true" sz="1748">
                <a:solidFill>
                  <a:srgbClr val="F5F5F5"/>
                </a:solidFill>
                <a:latin typeface="Clear Sans Medium"/>
                <a:ea typeface="Clear Sans Medium"/>
                <a:cs typeface="Clear Sans Medium"/>
                <a:sym typeface="Clear Sans Medium"/>
              </a:rPr>
              <a:t>HIGH RATING</a:t>
            </a:r>
          </a:p>
          <a:p>
            <a:pPr algn="l" marL="377566" indent="-188783" lvl="1">
              <a:lnSpc>
                <a:spcPts val="2448"/>
              </a:lnSpc>
              <a:buFont typeface="Arial"/>
              <a:buChar char="•"/>
            </a:pPr>
            <a:r>
              <a:rPr lang="en-US" b="true" sz="1748">
                <a:solidFill>
                  <a:srgbClr val="F5F5F5"/>
                </a:solidFill>
                <a:latin typeface="Clear Sans Medium"/>
                <a:ea typeface="Clear Sans Medium"/>
                <a:cs typeface="Clear Sans Medium"/>
                <a:sym typeface="Clear Sans Medium"/>
              </a:rPr>
              <a:t>HIGH ENGAGEMENT</a:t>
            </a:r>
          </a:p>
          <a:p>
            <a:pPr algn="l" marL="377566" indent="-188783" lvl="1">
              <a:lnSpc>
                <a:spcPts val="2448"/>
              </a:lnSpc>
              <a:buFont typeface="Arial"/>
              <a:buChar char="•"/>
            </a:pPr>
            <a:r>
              <a:rPr lang="en-US" b="true" sz="1748">
                <a:solidFill>
                  <a:srgbClr val="F5F5F5"/>
                </a:solidFill>
                <a:latin typeface="Clear Sans Medium"/>
                <a:ea typeface="Clear Sans Medium"/>
                <a:cs typeface="Clear Sans Medium"/>
                <a:sym typeface="Clear Sans Medium"/>
              </a:rPr>
              <a:t>POPULAR TRADITIONAL AND DESSERT ITEMS DOMINATE RANKINGS.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863028" y="3352794"/>
            <a:ext cx="7014824" cy="3286337"/>
          </a:xfrm>
          <a:custGeom>
            <a:avLst/>
            <a:gdLst/>
            <a:ahLst/>
            <a:cxnLst/>
            <a:rect r="r" b="b" t="t" l="l"/>
            <a:pathLst>
              <a:path h="3286337" w="7014824">
                <a:moveTo>
                  <a:pt x="0" y="0"/>
                </a:moveTo>
                <a:lnTo>
                  <a:pt x="7014824" y="0"/>
                </a:lnTo>
                <a:lnTo>
                  <a:pt x="7014824" y="3286337"/>
                </a:lnTo>
                <a:lnTo>
                  <a:pt x="0" y="3286337"/>
                </a:lnTo>
                <a:lnTo>
                  <a:pt x="0" y="0"/>
                </a:lnTo>
                <a:close/>
              </a:path>
            </a:pathLst>
          </a:custGeom>
          <a:blipFill>
            <a:blip r:embed="rId4"/>
            <a:stretch>
              <a:fillRect l="-58818" t="-149992" r="-52631" b="0"/>
            </a:stretch>
          </a:blipFill>
        </p:spPr>
      </p:sp>
      <p:sp>
        <p:nvSpPr>
          <p:cNvPr name="TextBox 4" id="4"/>
          <p:cNvSpPr txBox="true"/>
          <p:nvPr/>
        </p:nvSpPr>
        <p:spPr>
          <a:xfrm rot="0">
            <a:off x="666750" y="1562086"/>
            <a:ext cx="14430713" cy="1057275"/>
          </a:xfrm>
          <a:prstGeom prst="rect">
            <a:avLst/>
          </a:prstGeom>
        </p:spPr>
        <p:txBody>
          <a:bodyPr anchor="t" rtlCol="false" tIns="0" lIns="0" bIns="0" rIns="0">
            <a:spAutoFit/>
          </a:bodyPr>
          <a:lstStyle/>
          <a:p>
            <a:pPr algn="l" marL="0" indent="0" lvl="0">
              <a:lnSpc>
                <a:spcPts val="8399"/>
              </a:lnSpc>
            </a:pPr>
            <a:r>
              <a:rPr lang="en-US" sz="6999" spc="-139">
                <a:solidFill>
                  <a:srgbClr val="F28C28"/>
                </a:solidFill>
                <a:latin typeface="Tenor Sans"/>
                <a:ea typeface="Tenor Sans"/>
                <a:cs typeface="Tenor Sans"/>
                <a:sym typeface="Tenor Sans"/>
              </a:rPr>
              <a:t>Restaurant Performance Insights</a:t>
            </a:r>
          </a:p>
        </p:txBody>
      </p:sp>
      <p:grpSp>
        <p:nvGrpSpPr>
          <p:cNvPr name="Group 5" id="5"/>
          <p:cNvGrpSpPr/>
          <p:nvPr/>
        </p:nvGrpSpPr>
        <p:grpSpPr>
          <a:xfrm rot="0">
            <a:off x="10734675" y="3352794"/>
            <a:ext cx="5448300" cy="5165070"/>
            <a:chOff x="0" y="0"/>
            <a:chExt cx="7264400" cy="6886761"/>
          </a:xfrm>
        </p:grpSpPr>
        <p:sp>
          <p:nvSpPr>
            <p:cNvPr name="TextBox 6" id="6"/>
            <p:cNvSpPr txBox="true"/>
            <p:nvPr/>
          </p:nvSpPr>
          <p:spPr>
            <a:xfrm rot="0">
              <a:off x="0" y="-47625"/>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0B2545"/>
                  </a:solidFill>
                  <a:latin typeface="Clear Sans Medium"/>
                  <a:ea typeface="Clear Sans Medium"/>
                  <a:cs typeface="Clear Sans Medium"/>
                  <a:sym typeface="Clear Sans Medium"/>
                </a:rPr>
                <a:t>TOP RESTAURANTS</a:t>
              </a:r>
            </a:p>
          </p:txBody>
        </p:sp>
        <p:sp>
          <p:nvSpPr>
            <p:cNvPr name="TextBox 7" id="7"/>
            <p:cNvSpPr txBox="true"/>
            <p:nvPr/>
          </p:nvSpPr>
          <p:spPr>
            <a:xfrm rot="0">
              <a:off x="0" y="878058"/>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0B2545"/>
                  </a:solidFill>
                  <a:latin typeface="Clear Sans"/>
                  <a:ea typeface="Clear Sans"/>
                  <a:cs typeface="Clear Sans"/>
                  <a:sym typeface="Clear Sans"/>
                </a:rPr>
                <a:t>The analysis reveals the </a:t>
              </a:r>
              <a:r>
                <a:rPr lang="en-US" b="true" sz="2099">
                  <a:solidFill>
                    <a:srgbClr val="0B2545"/>
                  </a:solidFill>
                  <a:latin typeface="Clear Sans Bold"/>
                  <a:ea typeface="Clear Sans Bold"/>
                  <a:cs typeface="Clear Sans Bold"/>
                  <a:sym typeface="Clear Sans Bold"/>
                </a:rPr>
                <a:t>top-performing restaurants</a:t>
              </a:r>
              <a:r>
                <a:rPr lang="en-US" sz="2099">
                  <a:solidFill>
                    <a:srgbClr val="0B2545"/>
                  </a:solidFill>
                  <a:latin typeface="Clear Sans"/>
                  <a:ea typeface="Clear Sans"/>
                  <a:cs typeface="Clear Sans"/>
                  <a:sym typeface="Clear Sans"/>
                </a:rPr>
                <a:t> based on weighted ratings, showcasing their strengths and areas for improvement in customer satisfaction.</a:t>
              </a:r>
            </a:p>
          </p:txBody>
        </p:sp>
        <p:sp>
          <p:nvSpPr>
            <p:cNvPr name="TextBox 8" id="8"/>
            <p:cNvSpPr txBox="true"/>
            <p:nvPr/>
          </p:nvSpPr>
          <p:spPr>
            <a:xfrm rot="0">
              <a:off x="0" y="4023921"/>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0B2545"/>
                  </a:solidFill>
                  <a:latin typeface="Clear Sans Medium"/>
                  <a:ea typeface="Clear Sans Medium"/>
                  <a:cs typeface="Clear Sans Medium"/>
                  <a:sym typeface="Clear Sans Medium"/>
                </a:rPr>
                <a:t>COMPETITIVE BENCHMARKING</a:t>
              </a:r>
            </a:p>
          </p:txBody>
        </p:sp>
        <p:sp>
          <p:nvSpPr>
            <p:cNvPr name="TextBox 9" id="9"/>
            <p:cNvSpPr txBox="true"/>
            <p:nvPr/>
          </p:nvSpPr>
          <p:spPr>
            <a:xfrm rot="0">
              <a:off x="0" y="4949603"/>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0B2545"/>
                  </a:solidFill>
                  <a:latin typeface="Clear Sans"/>
                  <a:ea typeface="Clear Sans"/>
                  <a:cs typeface="Clear Sans"/>
                  <a:sym typeface="Clear Sans"/>
                </a:rPr>
                <a:t>A comparison against industry standards helps identify </a:t>
              </a:r>
              <a:r>
                <a:rPr lang="en-US" b="true" sz="2099">
                  <a:solidFill>
                    <a:srgbClr val="0B2545"/>
                  </a:solidFill>
                  <a:latin typeface="Clear Sans Bold"/>
                  <a:ea typeface="Clear Sans Bold"/>
                  <a:cs typeface="Clear Sans Bold"/>
                  <a:sym typeface="Clear Sans Bold"/>
                </a:rPr>
                <a:t>market leaders</a:t>
              </a:r>
              <a:r>
                <a:rPr lang="en-US" sz="2099">
                  <a:solidFill>
                    <a:srgbClr val="0B2545"/>
                  </a:solidFill>
                  <a:latin typeface="Clear Sans"/>
                  <a:ea typeface="Clear Sans"/>
                  <a:cs typeface="Clear Sans"/>
                  <a:sym typeface="Clear Sans"/>
                </a:rPr>
                <a:t> while providing insights into competitive positioning and strategies for growth.</a:t>
              </a:r>
            </a:p>
          </p:txBody>
        </p:sp>
      </p:grpSp>
      <p:sp>
        <p:nvSpPr>
          <p:cNvPr name="TextBox 10" id="10"/>
          <p:cNvSpPr txBox="true"/>
          <p:nvPr/>
        </p:nvSpPr>
        <p:spPr>
          <a:xfrm rot="0">
            <a:off x="2012157" y="6886288"/>
            <a:ext cx="7842620" cy="1940796"/>
          </a:xfrm>
          <a:prstGeom prst="rect">
            <a:avLst/>
          </a:prstGeom>
        </p:spPr>
        <p:txBody>
          <a:bodyPr anchor="t" rtlCol="false" tIns="0" lIns="0" bIns="0" rIns="0">
            <a:spAutoFit/>
          </a:bodyPr>
          <a:lstStyle/>
          <a:p>
            <a:pPr algn="just">
              <a:lnSpc>
                <a:spcPts val="2961"/>
              </a:lnSpc>
              <a:spcBef>
                <a:spcPct val="0"/>
              </a:spcBef>
            </a:pPr>
            <a:r>
              <a:rPr lang="en-US" b="true" sz="2115">
                <a:solidFill>
                  <a:srgbClr val="6E1480"/>
                </a:solidFill>
                <a:latin typeface="Clear Sans Medium"/>
                <a:ea typeface="Clear Sans Medium"/>
                <a:cs typeface="Clear Sans Medium"/>
                <a:sym typeface="Clear Sans Medium"/>
              </a:rPr>
              <a:t>TOP RESTAURANTS BY WEIGHTED RATING</a:t>
            </a:r>
          </a:p>
          <a:p>
            <a:pPr algn="l" marL="392012" indent="-196006" lvl="1">
              <a:lnSpc>
                <a:spcPts val="2541"/>
              </a:lnSpc>
              <a:buFont typeface="Arial"/>
              <a:buChar char="•"/>
            </a:pPr>
            <a:r>
              <a:rPr lang="en-US" b="true" sz="1815">
                <a:solidFill>
                  <a:srgbClr val="000000"/>
                </a:solidFill>
                <a:latin typeface="Clear Sans Medium"/>
                <a:ea typeface="Clear Sans Medium"/>
                <a:cs typeface="Clear Sans Medium"/>
                <a:sym typeface="Clear Sans Medium"/>
              </a:rPr>
              <a:t>RESTAURANTS MAINTAINING CONSISTENT HIGH RATINGS:</a:t>
            </a:r>
          </a:p>
          <a:p>
            <a:pPr algn="l" marL="392012" indent="-196006" lvl="1">
              <a:lnSpc>
                <a:spcPts val="2541"/>
              </a:lnSpc>
              <a:buFont typeface="Arial"/>
              <a:buChar char="•"/>
            </a:pPr>
            <a:r>
              <a:rPr lang="en-US" b="true" sz="1815">
                <a:solidFill>
                  <a:srgbClr val="000000"/>
                </a:solidFill>
                <a:latin typeface="Clear Sans Medium"/>
                <a:ea typeface="Clear Sans Medium"/>
                <a:cs typeface="Clear Sans Medium"/>
                <a:sym typeface="Clear Sans Medium"/>
              </a:rPr>
              <a:t>HOTEL ANNALAKSHMI</a:t>
            </a:r>
          </a:p>
          <a:p>
            <a:pPr algn="l" marL="392012" indent="-196006" lvl="1">
              <a:lnSpc>
                <a:spcPts val="2541"/>
              </a:lnSpc>
              <a:buFont typeface="Arial"/>
              <a:buChar char="•"/>
            </a:pPr>
            <a:r>
              <a:rPr lang="en-US" b="true" sz="1815">
                <a:solidFill>
                  <a:srgbClr val="000000"/>
                </a:solidFill>
                <a:latin typeface="Clear Sans Medium"/>
                <a:ea typeface="Clear Sans Medium"/>
                <a:cs typeface="Clear Sans Medium"/>
                <a:sym typeface="Clear Sans Medium"/>
              </a:rPr>
              <a:t>KANTI SWEETS</a:t>
            </a:r>
          </a:p>
          <a:p>
            <a:pPr algn="l" marL="392012" indent="-196006" lvl="1">
              <a:lnSpc>
                <a:spcPts val="2541"/>
              </a:lnSpc>
              <a:buFont typeface="Arial"/>
              <a:buChar char="•"/>
            </a:pPr>
            <a:r>
              <a:rPr lang="en-US" b="true" sz="1815">
                <a:solidFill>
                  <a:srgbClr val="000000"/>
                </a:solidFill>
                <a:latin typeface="Clear Sans Medium"/>
                <a:ea typeface="Clear Sans Medium"/>
                <a:cs typeface="Clear Sans Medium"/>
                <a:sym typeface="Clear Sans Medium"/>
              </a:rPr>
              <a:t>A2B</a:t>
            </a:r>
          </a:p>
          <a:p>
            <a:pPr algn="l" marL="392012" indent="-196006" lvl="1">
              <a:lnSpc>
                <a:spcPts val="2541"/>
              </a:lnSpc>
              <a:buFont typeface="Arial"/>
              <a:buChar char="•"/>
            </a:pPr>
            <a:r>
              <a:rPr lang="en-US" b="true" sz="1815">
                <a:solidFill>
                  <a:srgbClr val="000000"/>
                </a:solidFill>
                <a:latin typeface="Clear Sans Medium"/>
                <a:ea typeface="Clear Sans Medium"/>
                <a:cs typeface="Clear Sans Medium"/>
                <a:sym typeface="Clear Sans Medium"/>
              </a:rPr>
              <a:t>POLAR BEAR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865186" y="3142987"/>
            <a:ext cx="3864178" cy="3534287"/>
          </a:xfrm>
          <a:custGeom>
            <a:avLst/>
            <a:gdLst/>
            <a:ahLst/>
            <a:cxnLst/>
            <a:rect r="r" b="b" t="t" l="l"/>
            <a:pathLst>
              <a:path h="3534287" w="3864178">
                <a:moveTo>
                  <a:pt x="0" y="0"/>
                </a:moveTo>
                <a:lnTo>
                  <a:pt x="3864178" y="0"/>
                </a:lnTo>
                <a:lnTo>
                  <a:pt x="3864178" y="3534287"/>
                </a:lnTo>
                <a:lnTo>
                  <a:pt x="0" y="3534287"/>
                </a:lnTo>
                <a:lnTo>
                  <a:pt x="0" y="0"/>
                </a:lnTo>
                <a:close/>
              </a:path>
            </a:pathLst>
          </a:custGeom>
          <a:blipFill>
            <a:blip r:embed="rId4"/>
            <a:stretch>
              <a:fillRect l="-299767" t="-142091" r="0" b="0"/>
            </a:stretch>
          </a:blipFill>
        </p:spPr>
      </p:sp>
      <p:sp>
        <p:nvSpPr>
          <p:cNvPr name="TextBox 4" id="4"/>
          <p:cNvSpPr txBox="true"/>
          <p:nvPr/>
        </p:nvSpPr>
        <p:spPr>
          <a:xfrm rot="0">
            <a:off x="666750" y="1562086"/>
            <a:ext cx="16592550"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Product Performance Funnel Analysis</a:t>
            </a:r>
          </a:p>
        </p:txBody>
      </p:sp>
      <p:grpSp>
        <p:nvGrpSpPr>
          <p:cNvPr name="Group 5" id="5"/>
          <p:cNvGrpSpPr/>
          <p:nvPr/>
        </p:nvGrpSpPr>
        <p:grpSpPr>
          <a:xfrm rot="0">
            <a:off x="8079952" y="3352794"/>
            <a:ext cx="8103023" cy="4062204"/>
            <a:chOff x="0" y="0"/>
            <a:chExt cx="10804031" cy="5416271"/>
          </a:xfrm>
        </p:grpSpPr>
        <p:sp>
          <p:nvSpPr>
            <p:cNvPr name="TextBox 6" id="6"/>
            <p:cNvSpPr txBox="true"/>
            <p:nvPr/>
          </p:nvSpPr>
          <p:spPr>
            <a:xfrm rot="0">
              <a:off x="0" y="-47625"/>
              <a:ext cx="10804031"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OVERVIEW OF RATINGS</a:t>
              </a:r>
            </a:p>
          </p:txBody>
        </p:sp>
        <p:sp>
          <p:nvSpPr>
            <p:cNvPr name="TextBox 7" id="7"/>
            <p:cNvSpPr txBox="true"/>
            <p:nvPr/>
          </p:nvSpPr>
          <p:spPr>
            <a:xfrm rot="0">
              <a:off x="0" y="878058"/>
              <a:ext cx="10804031"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The funnel illustrates the journey from total dishes to highly rated options, highlighting the critical path to customer engagement.</a:t>
              </a:r>
            </a:p>
          </p:txBody>
        </p:sp>
        <p:sp>
          <p:nvSpPr>
            <p:cNvPr name="TextBox 8" id="8"/>
            <p:cNvSpPr txBox="true"/>
            <p:nvPr/>
          </p:nvSpPr>
          <p:spPr>
            <a:xfrm rot="0">
              <a:off x="0" y="3043595"/>
              <a:ext cx="10804031"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ENGAGEMENT METRICS</a:t>
              </a:r>
            </a:p>
          </p:txBody>
        </p:sp>
        <p:sp>
          <p:nvSpPr>
            <p:cNvPr name="TextBox 9" id="9"/>
            <p:cNvSpPr txBox="true"/>
            <p:nvPr/>
          </p:nvSpPr>
          <p:spPr>
            <a:xfrm rot="0">
              <a:off x="0" y="3969277"/>
              <a:ext cx="10804031" cy="1446994"/>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Analyzing this progression, we identify star performers that maximize customer interaction and drive profitability in our offerings.</a:t>
              </a:r>
            </a:p>
          </p:txBody>
        </p:sp>
      </p:grpSp>
      <p:sp>
        <p:nvSpPr>
          <p:cNvPr name="TextBox 10" id="10"/>
          <p:cNvSpPr txBox="true"/>
          <p:nvPr/>
        </p:nvSpPr>
        <p:spPr>
          <a:xfrm rot="0">
            <a:off x="2341587" y="6967706"/>
            <a:ext cx="3387777" cy="1829327"/>
          </a:xfrm>
          <a:prstGeom prst="rect">
            <a:avLst/>
          </a:prstGeom>
        </p:spPr>
        <p:txBody>
          <a:bodyPr anchor="t" rtlCol="false" tIns="0" lIns="0" bIns="0" rIns="0">
            <a:spAutoFit/>
          </a:bodyPr>
          <a:lstStyle/>
          <a:p>
            <a:pPr algn="just">
              <a:lnSpc>
                <a:spcPts val="2805"/>
              </a:lnSpc>
              <a:spcBef>
                <a:spcPct val="0"/>
              </a:spcBef>
            </a:pPr>
            <a:r>
              <a:rPr lang="en-US" b="true" sz="2004">
                <a:solidFill>
                  <a:srgbClr val="E2A9F1"/>
                </a:solidFill>
                <a:latin typeface="Clear Sans Medium"/>
                <a:ea typeface="Clear Sans Medium"/>
                <a:cs typeface="Clear Sans Medium"/>
                <a:sym typeface="Clear Sans Medium"/>
              </a:rPr>
              <a:t>FUNNEL STAGES</a:t>
            </a:r>
          </a:p>
          <a:p>
            <a:pPr algn="l" marL="367949" indent="-183974" lvl="1">
              <a:lnSpc>
                <a:spcPts val="2385"/>
              </a:lnSpc>
              <a:buFont typeface="Arial"/>
              <a:buChar char="•"/>
            </a:pPr>
            <a:r>
              <a:rPr lang="en-US" b="true" sz="1704">
                <a:solidFill>
                  <a:srgbClr val="F5F5F5"/>
                </a:solidFill>
                <a:latin typeface="Clear Sans Medium"/>
                <a:ea typeface="Clear Sans Medium"/>
                <a:cs typeface="Clear Sans Medium"/>
                <a:sym typeface="Clear Sans Medium"/>
              </a:rPr>
              <a:t>TOTAL DISHES: 12K</a:t>
            </a:r>
          </a:p>
          <a:p>
            <a:pPr algn="l" marL="367949" indent="-183974" lvl="1">
              <a:lnSpc>
                <a:spcPts val="2385"/>
              </a:lnSpc>
              <a:buFont typeface="Arial"/>
              <a:buChar char="•"/>
            </a:pPr>
            <a:r>
              <a:rPr lang="en-US" b="true" sz="1704">
                <a:solidFill>
                  <a:srgbClr val="F5F5F5"/>
                </a:solidFill>
                <a:latin typeface="Clear Sans Medium"/>
                <a:ea typeface="Clear Sans Medium"/>
                <a:cs typeface="Clear Sans Medium"/>
                <a:sym typeface="Clear Sans Medium"/>
              </a:rPr>
              <a:t>DISHES WITH REVIEWS</a:t>
            </a:r>
          </a:p>
          <a:p>
            <a:pPr algn="l" marL="367949" indent="-183974" lvl="1">
              <a:lnSpc>
                <a:spcPts val="2385"/>
              </a:lnSpc>
              <a:buFont typeface="Arial"/>
              <a:buChar char="•"/>
            </a:pPr>
            <a:r>
              <a:rPr lang="en-US" b="true" sz="1704">
                <a:solidFill>
                  <a:srgbClr val="F5F5F5"/>
                </a:solidFill>
                <a:latin typeface="Clear Sans Medium"/>
                <a:ea typeface="Clear Sans Medium"/>
                <a:cs typeface="Clear Sans Medium"/>
                <a:sym typeface="Clear Sans Medium"/>
              </a:rPr>
              <a:t>HIGHLY RATED: 8K</a:t>
            </a:r>
          </a:p>
          <a:p>
            <a:pPr algn="l" marL="367949" indent="-183974" lvl="1">
              <a:lnSpc>
                <a:spcPts val="2385"/>
              </a:lnSpc>
              <a:buFont typeface="Arial"/>
              <a:buChar char="•"/>
            </a:pPr>
            <a:r>
              <a:rPr lang="en-US" b="true" sz="1704">
                <a:solidFill>
                  <a:srgbClr val="F5F5F5"/>
                </a:solidFill>
                <a:latin typeface="Clear Sans Medium"/>
                <a:ea typeface="Clear Sans Medium"/>
                <a:cs typeface="Clear Sans Medium"/>
                <a:sym typeface="Clear Sans Medium"/>
              </a:rPr>
              <a:t>HIGH ENGAGEMENT</a:t>
            </a:r>
          </a:p>
          <a:p>
            <a:pPr algn="l" marL="367949" indent="-183974" lvl="1">
              <a:lnSpc>
                <a:spcPts val="2385"/>
              </a:lnSpc>
              <a:buFont typeface="Arial"/>
              <a:buChar char="•"/>
            </a:pPr>
            <a:r>
              <a:rPr lang="en-US" b="true" sz="1704">
                <a:solidFill>
                  <a:srgbClr val="F5F5F5"/>
                </a:solidFill>
                <a:latin typeface="Clear Sans Medium"/>
                <a:ea typeface="Clear Sans Medium"/>
                <a:cs typeface="Clear Sans Medium"/>
                <a:sym typeface="Clear Sans Medium"/>
              </a:rPr>
              <a:t>STAR PERFORMERS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62F55"/>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746203" y="3815290"/>
            <a:ext cx="5954653" cy="3246957"/>
          </a:xfrm>
          <a:custGeom>
            <a:avLst/>
            <a:gdLst/>
            <a:ahLst/>
            <a:cxnLst/>
            <a:rect r="r" b="b" t="t" l="l"/>
            <a:pathLst>
              <a:path h="3246957" w="5954653">
                <a:moveTo>
                  <a:pt x="0" y="0"/>
                </a:moveTo>
                <a:lnTo>
                  <a:pt x="5954653" y="0"/>
                </a:lnTo>
                <a:lnTo>
                  <a:pt x="5954653" y="3246957"/>
                </a:lnTo>
                <a:lnTo>
                  <a:pt x="0" y="3246957"/>
                </a:lnTo>
                <a:lnTo>
                  <a:pt x="0" y="0"/>
                </a:lnTo>
                <a:close/>
              </a:path>
            </a:pathLst>
          </a:custGeom>
          <a:blipFill>
            <a:blip r:embed="rId4"/>
            <a:stretch>
              <a:fillRect l="-197567" t="-79601" r="-3548" b="-126264"/>
            </a:stretch>
          </a:blipFill>
        </p:spPr>
      </p:sp>
      <p:sp>
        <p:nvSpPr>
          <p:cNvPr name="TextBox 4" id="4"/>
          <p:cNvSpPr txBox="true"/>
          <p:nvPr/>
        </p:nvSpPr>
        <p:spPr>
          <a:xfrm rot="0">
            <a:off x="666750" y="1562086"/>
            <a:ext cx="8324850" cy="2114550"/>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Engagement Levels and Insights</a:t>
            </a:r>
          </a:p>
        </p:txBody>
      </p:sp>
      <p:grpSp>
        <p:nvGrpSpPr>
          <p:cNvPr name="Group 5" id="5"/>
          <p:cNvGrpSpPr/>
          <p:nvPr/>
        </p:nvGrpSpPr>
        <p:grpSpPr>
          <a:xfrm rot="0">
            <a:off x="10734675" y="3352794"/>
            <a:ext cx="5448300" cy="5165070"/>
            <a:chOff x="0" y="0"/>
            <a:chExt cx="7264400" cy="6886761"/>
          </a:xfrm>
        </p:grpSpPr>
        <p:sp>
          <p:nvSpPr>
            <p:cNvPr name="TextBox 6" id="6"/>
            <p:cNvSpPr txBox="true"/>
            <p:nvPr/>
          </p:nvSpPr>
          <p:spPr>
            <a:xfrm rot="0">
              <a:off x="0" y="-47625"/>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LOW ENGAGEMENT</a:t>
              </a:r>
            </a:p>
          </p:txBody>
        </p:sp>
        <p:sp>
          <p:nvSpPr>
            <p:cNvPr name="TextBox 7" id="7"/>
            <p:cNvSpPr txBox="true"/>
            <p:nvPr/>
          </p:nvSpPr>
          <p:spPr>
            <a:xfrm rot="0">
              <a:off x="0" y="878058"/>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Approximately </a:t>
              </a:r>
              <a:r>
                <a:rPr lang="en-US" b="true" sz="2099">
                  <a:solidFill>
                    <a:srgbClr val="F5F5F5"/>
                  </a:solidFill>
                  <a:latin typeface="Clear Sans Bold"/>
                  <a:ea typeface="Clear Sans Bold"/>
                  <a:cs typeface="Clear Sans Bold"/>
                  <a:sym typeface="Clear Sans Bold"/>
                </a:rPr>
                <a:t>80% of products</a:t>
              </a:r>
              <a:r>
                <a:rPr lang="en-US" sz="2099">
                  <a:solidFill>
                    <a:srgbClr val="F5F5F5"/>
                  </a:solidFill>
                  <a:latin typeface="Clear Sans"/>
                  <a:ea typeface="Clear Sans"/>
                  <a:cs typeface="Clear Sans"/>
                  <a:sym typeface="Clear Sans"/>
                </a:rPr>
                <a:t> exhibit low customer engagement, indicating potential areas for improvement in marketing strategies and customer outreach.</a:t>
              </a:r>
            </a:p>
          </p:txBody>
        </p:sp>
        <p:sp>
          <p:nvSpPr>
            <p:cNvPr name="TextBox 8" id="8"/>
            <p:cNvSpPr txBox="true"/>
            <p:nvPr/>
          </p:nvSpPr>
          <p:spPr>
            <a:xfrm rot="0">
              <a:off x="0" y="4023921"/>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HIGH ENGAGEMENT</a:t>
              </a:r>
            </a:p>
          </p:txBody>
        </p:sp>
        <p:sp>
          <p:nvSpPr>
            <p:cNvPr name="TextBox 9" id="9"/>
            <p:cNvSpPr txBox="true"/>
            <p:nvPr/>
          </p:nvSpPr>
          <p:spPr>
            <a:xfrm rot="0">
              <a:off x="0" y="4949603"/>
              <a:ext cx="7264400" cy="1937157"/>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A </a:t>
              </a:r>
              <a:r>
                <a:rPr lang="en-US" b="true" sz="2099">
                  <a:solidFill>
                    <a:srgbClr val="F5F5F5"/>
                  </a:solidFill>
                  <a:latin typeface="Clear Sans Bold"/>
                  <a:ea typeface="Clear Sans Bold"/>
                  <a:cs typeface="Clear Sans Bold"/>
                  <a:sym typeface="Clear Sans Bold"/>
                </a:rPr>
                <a:t>small cluster of products</a:t>
              </a:r>
              <a:r>
                <a:rPr lang="en-US" sz="2099">
                  <a:solidFill>
                    <a:srgbClr val="F5F5F5"/>
                  </a:solidFill>
                  <a:latin typeface="Clear Sans"/>
                  <a:ea typeface="Clear Sans"/>
                  <a:cs typeface="Clear Sans"/>
                  <a:sym typeface="Clear Sans"/>
                </a:rPr>
                <a:t> shows high engagement, representing key opportunities to promote these items and enhance overall customer interest.</a:t>
              </a:r>
            </a:p>
          </p:txBody>
        </p:sp>
      </p:grpSp>
      <p:sp>
        <p:nvSpPr>
          <p:cNvPr name="TextBox 10" id="10"/>
          <p:cNvSpPr txBox="true"/>
          <p:nvPr/>
        </p:nvSpPr>
        <p:spPr>
          <a:xfrm rot="0">
            <a:off x="1952958" y="7439025"/>
            <a:ext cx="7038642" cy="668150"/>
          </a:xfrm>
          <a:prstGeom prst="rect">
            <a:avLst/>
          </a:prstGeom>
        </p:spPr>
        <p:txBody>
          <a:bodyPr anchor="t" rtlCol="false" tIns="0" lIns="0" bIns="0" rIns="0">
            <a:spAutoFit/>
          </a:bodyPr>
          <a:lstStyle/>
          <a:p>
            <a:pPr algn="just">
              <a:lnSpc>
                <a:spcPts val="2723"/>
              </a:lnSpc>
              <a:spcBef>
                <a:spcPct val="0"/>
              </a:spcBef>
            </a:pPr>
            <a:r>
              <a:rPr lang="en-US" b="true" sz="1945">
                <a:solidFill>
                  <a:srgbClr val="F5F5F5"/>
                </a:solidFill>
                <a:latin typeface="Clear Sans Medium"/>
                <a:ea typeface="Clear Sans Medium"/>
                <a:cs typeface="Clear Sans Medium"/>
                <a:sym typeface="Clear Sans Medium"/>
              </a:rPr>
              <a:t>MAJORITY OF DISHES FALL UNDER LOW ENGAGEMENT.</a:t>
            </a:r>
          </a:p>
          <a:p>
            <a:pPr algn="just">
              <a:lnSpc>
                <a:spcPts val="2723"/>
              </a:lnSpc>
              <a:spcBef>
                <a:spcPct val="0"/>
              </a:spcBef>
            </a:pPr>
            <a:r>
              <a:rPr lang="en-US" b="true" sz="1945">
                <a:solidFill>
                  <a:srgbClr val="F5F5F5"/>
                </a:solidFill>
                <a:latin typeface="Clear Sans Medium"/>
                <a:ea typeface="Clear Sans Medium"/>
                <a:cs typeface="Clear Sans Medium"/>
                <a:sym typeface="Clear Sans Medium"/>
              </a:rPr>
              <a:t>SMALL PORTION REACHES HIGH OR VERY HIGH ENGAGEMENT.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TextBox 2" id="2"/>
          <p:cNvSpPr txBox="true"/>
          <p:nvPr/>
        </p:nvSpPr>
        <p:spPr>
          <a:xfrm rot="0">
            <a:off x="666750" y="1562086"/>
            <a:ext cx="8324850" cy="1057275"/>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Overall Impact</a:t>
            </a:r>
          </a:p>
        </p:txBody>
      </p:sp>
      <p:grpSp>
        <p:nvGrpSpPr>
          <p:cNvPr name="Group 3" id="3"/>
          <p:cNvGrpSpPr/>
          <p:nvPr/>
        </p:nvGrpSpPr>
        <p:grpSpPr>
          <a:xfrm rot="0">
            <a:off x="2156274" y="4451505"/>
            <a:ext cx="12758957" cy="3694581"/>
            <a:chOff x="0" y="0"/>
            <a:chExt cx="17011943" cy="4926108"/>
          </a:xfrm>
        </p:grpSpPr>
        <p:sp>
          <p:nvSpPr>
            <p:cNvPr name="TextBox 4" id="4"/>
            <p:cNvSpPr txBox="true"/>
            <p:nvPr/>
          </p:nvSpPr>
          <p:spPr>
            <a:xfrm rot="0">
              <a:off x="0" y="-47625"/>
              <a:ext cx="17011943"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DATA CLEANING &amp; MODELING</a:t>
              </a:r>
            </a:p>
          </p:txBody>
        </p:sp>
        <p:sp>
          <p:nvSpPr>
            <p:cNvPr name="TextBox 5" id="5"/>
            <p:cNvSpPr txBox="true"/>
            <p:nvPr/>
          </p:nvSpPr>
          <p:spPr>
            <a:xfrm rot="0">
              <a:off x="0" y="878058"/>
              <a:ext cx="17011943"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Comprehensive </a:t>
              </a:r>
              <a:r>
                <a:rPr lang="en-US" b="true" sz="2099">
                  <a:solidFill>
                    <a:srgbClr val="F5F5F5"/>
                  </a:solidFill>
                  <a:latin typeface="Clear Sans Bold"/>
                  <a:ea typeface="Clear Sans Bold"/>
                  <a:cs typeface="Clear Sans Bold"/>
                  <a:sym typeface="Clear Sans Bold"/>
                </a:rPr>
                <a:t>data cleaning</a:t>
              </a:r>
              <a:r>
                <a:rPr lang="en-US" sz="2099">
                  <a:solidFill>
                    <a:srgbClr val="F5F5F5"/>
                  </a:solidFill>
                  <a:latin typeface="Clear Sans"/>
                  <a:ea typeface="Clear Sans"/>
                  <a:cs typeface="Clear Sans"/>
                  <a:sym typeface="Clear Sans"/>
                </a:rPr>
                <a:t> and modeling increased data reliability, ensuring robust insights that drive informed decision-making for businesses in the food industry.</a:t>
              </a:r>
            </a:p>
          </p:txBody>
        </p:sp>
        <p:sp>
          <p:nvSpPr>
            <p:cNvPr name="TextBox 6" id="6"/>
            <p:cNvSpPr txBox="true"/>
            <p:nvPr/>
          </p:nvSpPr>
          <p:spPr>
            <a:xfrm rot="0">
              <a:off x="0" y="3043595"/>
              <a:ext cx="17011943"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F5F5F5"/>
                  </a:solidFill>
                  <a:latin typeface="Clear Sans Medium"/>
                  <a:ea typeface="Clear Sans Medium"/>
                  <a:cs typeface="Clear Sans Medium"/>
                  <a:sym typeface="Clear Sans Medium"/>
                </a:rPr>
                <a:t>BI DASHBOARD DESIGN</a:t>
              </a:r>
            </a:p>
          </p:txBody>
        </p:sp>
        <p:sp>
          <p:nvSpPr>
            <p:cNvPr name="TextBox 7" id="7"/>
            <p:cNvSpPr txBox="true"/>
            <p:nvPr/>
          </p:nvSpPr>
          <p:spPr>
            <a:xfrm rot="0">
              <a:off x="0" y="3969277"/>
              <a:ext cx="17011943"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F5F5F5"/>
                  </a:solidFill>
                  <a:latin typeface="Clear Sans"/>
                  <a:ea typeface="Clear Sans"/>
                  <a:cs typeface="Clear Sans"/>
                  <a:sym typeface="Clear Sans"/>
                </a:rPr>
                <a:t>The developed </a:t>
              </a:r>
              <a:r>
                <a:rPr lang="en-US" b="true" sz="2099">
                  <a:solidFill>
                    <a:srgbClr val="F5F5F5"/>
                  </a:solidFill>
                  <a:latin typeface="Clear Sans Bold"/>
                  <a:ea typeface="Clear Sans Bold"/>
                  <a:cs typeface="Clear Sans Bold"/>
                  <a:sym typeface="Clear Sans Bold"/>
                </a:rPr>
                <a:t>BI dashboard</a:t>
              </a:r>
              <a:r>
                <a:rPr lang="en-US" sz="2099">
                  <a:solidFill>
                    <a:srgbClr val="F5F5F5"/>
                  </a:solidFill>
                  <a:latin typeface="Clear Sans"/>
                  <a:ea typeface="Clear Sans"/>
                  <a:cs typeface="Clear Sans"/>
                  <a:sym typeface="Clear Sans"/>
                </a:rPr>
                <a:t> presents key metrics and sentiments effectively, empowering stakeholders to visualize data and make strategic business adjustments promptly.</a:t>
              </a:r>
            </a:p>
          </p:txBody>
        </p:sp>
      </p:grpSp>
      <p:sp>
        <p:nvSpPr>
          <p:cNvPr name="Freeform 8" id="8"/>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sp>
        <p:nvSpPr>
          <p:cNvPr name="Freeform 2" id="2"/>
          <p:cNvSpPr/>
          <p:nvPr/>
        </p:nvSpPr>
        <p:spPr>
          <a:xfrm flipH="false" flipV="false" rot="-2926989">
            <a:off x="-12306245" y="-874354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111384">
            <a:off x="13680135" y="1098024"/>
            <a:ext cx="12122938" cy="11672351"/>
          </a:xfrm>
          <a:custGeom>
            <a:avLst/>
            <a:gdLst/>
            <a:ahLst/>
            <a:cxnLst/>
            <a:rect r="r" b="b" t="t" l="l"/>
            <a:pathLst>
              <a:path h="11672351" w="12122938">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086225"/>
            <a:ext cx="11201400" cy="2114550"/>
          </a:xfrm>
          <a:prstGeom prst="rect">
            <a:avLst/>
          </a:prstGeom>
        </p:spPr>
        <p:txBody>
          <a:bodyPr anchor="t" rtlCol="false" tIns="0" lIns="0" bIns="0" rIns="0">
            <a:spAutoFit/>
          </a:bodyPr>
          <a:lstStyle/>
          <a:p>
            <a:pPr algn="l" marL="0" indent="0" lvl="0">
              <a:lnSpc>
                <a:spcPts val="8399"/>
              </a:lnSpc>
            </a:pPr>
            <a:r>
              <a:rPr lang="en-US" sz="6999" spc="-139">
                <a:solidFill>
                  <a:srgbClr val="F5F5F5"/>
                </a:solidFill>
                <a:latin typeface="Tenor Sans"/>
                <a:ea typeface="Tenor Sans"/>
                <a:cs typeface="Tenor Sans"/>
                <a:sym typeface="Tenor Sans"/>
              </a:rPr>
              <a:t>Thank You for Your Attention</a:t>
            </a:r>
          </a:p>
        </p:txBody>
      </p:sp>
      <p:sp>
        <p:nvSpPr>
          <p:cNvPr name="TextBox 5" id="5"/>
          <p:cNvSpPr txBox="true"/>
          <p:nvPr/>
        </p:nvSpPr>
        <p:spPr>
          <a:xfrm rot="0">
            <a:off x="1028700" y="8045986"/>
            <a:ext cx="5051861" cy="1021490"/>
          </a:xfrm>
          <a:prstGeom prst="rect">
            <a:avLst/>
          </a:prstGeom>
        </p:spPr>
        <p:txBody>
          <a:bodyPr anchor="t" rtlCol="false" tIns="0" lIns="0" bIns="0" rIns="0">
            <a:spAutoFit/>
          </a:bodyPr>
          <a:lstStyle/>
          <a:p>
            <a:pPr algn="ctr">
              <a:lnSpc>
                <a:spcPts val="4072"/>
              </a:lnSpc>
            </a:pPr>
            <a:r>
              <a:rPr lang="en-US" sz="2908">
                <a:solidFill>
                  <a:srgbClr val="F5F5F5"/>
                </a:solidFill>
                <a:latin typeface="Apricots"/>
                <a:ea typeface="Apricots"/>
                <a:cs typeface="Apricots"/>
                <a:sym typeface="Apricots"/>
              </a:rPr>
              <a:t>BY</a:t>
            </a:r>
          </a:p>
          <a:p>
            <a:pPr algn="ctr">
              <a:lnSpc>
                <a:spcPts val="4072"/>
              </a:lnSpc>
              <a:spcBef>
                <a:spcPct val="0"/>
              </a:spcBef>
            </a:pPr>
            <a:r>
              <a:rPr lang="en-US" sz="2908">
                <a:solidFill>
                  <a:srgbClr val="F5F5F5"/>
                </a:solidFill>
                <a:latin typeface="Apricots"/>
                <a:ea typeface="Apricots"/>
                <a:cs typeface="Apricots"/>
                <a:sym typeface="Apricots"/>
              </a:rPr>
              <a:t>DEEKSHITHA  KAMMULA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Food Trends Analysis</dc:description>
  <dc:identifier>DAHCz7Ne8ZM</dc:identifier>
  <dcterms:modified xsi:type="dcterms:W3CDTF">2011-08-01T06:04:30Z</dcterms:modified>
  <cp:revision>1</cp:revision>
  <dc:title>Presentation - Food Trends Analysis</dc:title>
</cp:coreProperties>
</file>