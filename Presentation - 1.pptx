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enor Sans" charset="1" panose="02000000000000000000"/>
      <p:regular r:id="rId21"/>
    </p:embeddedFont>
    <p:embeddedFont>
      <p:font typeface="Gilda Display" charset="1" panose="02000000000000000000"/>
      <p:regular r:id="rId22"/>
    </p:embeddedFont>
    <p:embeddedFont>
      <p:font typeface="HK Grotesk Light" charset="1" panose="00000400000000000000"/>
      <p:regular r:id="rId23"/>
    </p:embeddedFont>
    <p:embeddedFont>
      <p:font typeface="HK Grotesk Bold" charset="1" panose="00000800000000000000"/>
      <p:regular r:id="rId24"/>
    </p:embeddedFont>
    <p:embeddedFont>
      <p:font typeface="HK Grotesk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666301"/>
            <a:ext cx="11245318" cy="5401251"/>
            <a:chOff x="0" y="0"/>
            <a:chExt cx="14993757" cy="720166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4221384" cy="5405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33"/>
                </a:lnSpc>
              </a:pPr>
              <a:r>
                <a:rPr lang="en-US" sz="7833" spc="-156">
                  <a:solidFill>
                    <a:srgbClr val="F5F5F5"/>
                  </a:solidFill>
                  <a:latin typeface="Tenor Sans"/>
                  <a:ea typeface="Tenor Sans"/>
                  <a:cs typeface="Tenor Sans"/>
                  <a:sym typeface="Tenor Sans"/>
                </a:rPr>
                <a:t>Food Trends: Understanding Customer Preferences in the Food Business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03586"/>
              <a:ext cx="14993757" cy="698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5016" y="1363282"/>
            <a:ext cx="14267095" cy="7369246"/>
            <a:chOff x="0" y="0"/>
            <a:chExt cx="19022793" cy="982566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83460" y="152400"/>
              <a:ext cx="16427064" cy="1586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577"/>
                </a:lnSpc>
              </a:pPr>
              <a:r>
                <a:rPr lang="en-US" sz="8577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56234"/>
              <a:ext cx="19022793" cy="7069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01"/>
                </a:lnSpc>
              </a:pPr>
              <a:r>
                <a:rPr lang="en-US" sz="2924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“Data analytics plays an important role</a:t>
              </a:r>
              <a:r>
                <a:rPr lang="en-US" sz="2924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 helping businesses understand customer behavior and improve their strategies. In this project, we developed interactive dashboards to analyze customer engagement, product performance, and customer sentiment.</a:t>
              </a:r>
            </a:p>
            <a:p>
              <a:pPr algn="l" marL="0" indent="0" lvl="0">
                <a:lnSpc>
                  <a:spcPts val="3801"/>
                </a:lnSpc>
              </a:pPr>
              <a:r>
                <a:rPr lang="en-US" sz="2924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Customer Segmentation Dashboard helps identify customer preferences, engagement levels, and product ratings across different food categories. It provides insights into how customers interact with different products.</a:t>
              </a:r>
            </a:p>
            <a:p>
              <a:pPr algn="l">
                <a:lnSpc>
                  <a:spcPts val="3801"/>
                </a:lnSpc>
              </a:pPr>
              <a:r>
                <a:rPr lang="en-US" sz="2924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Business Strategy and Product Innovation Dashboard focuses on analyzing product performance, pricing strategies, and top-performing categories to support better business decisions.</a:t>
              </a:r>
            </a:p>
            <a:p>
              <a:pPr algn="l" marL="0" indent="0" lvl="0">
                <a:lnSpc>
                  <a:spcPts val="380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Goals for Data Analytics Insights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4060031"/>
            <a:chOff x="0" y="0"/>
            <a:chExt cx="7264400" cy="54133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Engagement Patterns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7264400" cy="424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Understanding customer engagement patterns allows businesses to tailor offerings, enhancing satisfaction and loyalty through targeted marketing strategies based on real-time data analysis.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4060031"/>
            <a:chOff x="0" y="0"/>
            <a:chExt cx="7264400" cy="54133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Top Categories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7264400" cy="424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Identifying top-performing food categories enables informed decisions on product placement and promotional efforts, ultimately driving sales and maximizing customer reach within specific segments.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602831"/>
            <a:chOff x="0" y="0"/>
            <a:chExt cx="7264400" cy="48037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Product Innovation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Supporting product innovation through data insights fosters creativity in developing new offerings and adapting existing ones to meet evolving customer preferences and market trends.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3752860"/>
            <a:ext cx="8848319" cy="4855515"/>
          </a:xfrm>
          <a:custGeom>
            <a:avLst/>
            <a:gdLst/>
            <a:ahLst/>
            <a:cxnLst/>
            <a:rect r="r" b="b" t="t" l="l"/>
            <a:pathLst>
              <a:path h="4855515" w="8848319">
                <a:moveTo>
                  <a:pt x="0" y="0"/>
                </a:moveTo>
                <a:lnTo>
                  <a:pt x="8848319" y="0"/>
                </a:lnTo>
                <a:lnTo>
                  <a:pt x="8848319" y="4855516"/>
                </a:lnTo>
                <a:lnTo>
                  <a:pt x="0" y="485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19150"/>
            <a:ext cx="14784376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0"/>
              </a:lnSpc>
            </a:pPr>
            <a:r>
              <a:rPr lang="en-US" sz="8700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Customer Segmentation Dashboard Insights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21079" y="4515570"/>
            <a:ext cx="7648942" cy="4065706"/>
            <a:chOff x="0" y="0"/>
            <a:chExt cx="10198589" cy="542094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0198589" cy="139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00"/>
                </a:lnSpc>
                <a:spcBef>
                  <a:spcPct val="0"/>
                </a:spcBef>
              </a:pPr>
              <a:r>
                <a:rPr lang="en-US" b="true" sz="3417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Visual Representation of Customer Data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586539"/>
              <a:ext cx="10198589" cy="3834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7"/>
                </a:lnSpc>
              </a:pPr>
              <a:r>
                <a:rPr lang="en-US" sz="2506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Dashboard</a:t>
              </a:r>
              <a:r>
                <a:rPr lang="en-US" sz="2506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Overview</a:t>
              </a:r>
            </a:p>
            <a:p>
              <a:pPr algn="l" marL="541071" indent="-270536" lvl="1">
                <a:lnSpc>
                  <a:spcPts val="3257"/>
                </a:lnSpc>
                <a:buFont typeface="Arial"/>
                <a:buChar char="•"/>
              </a:pPr>
              <a:r>
                <a:rPr lang="en-US" sz="2506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Analyzes customer engagement, sentiment, and product ratings.</a:t>
              </a:r>
            </a:p>
            <a:p>
              <a:pPr algn="l" marL="541071" indent="-270536" lvl="1">
                <a:lnSpc>
                  <a:spcPts val="3257"/>
                </a:lnSpc>
                <a:buFont typeface="Arial"/>
                <a:buChar char="•"/>
              </a:pPr>
              <a:r>
                <a:rPr lang="en-US" sz="2506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Helps identify popular dishes and customer preferences.</a:t>
              </a:r>
            </a:p>
            <a:p>
              <a:pPr algn="l" marL="541071" indent="-270536" lvl="1">
                <a:lnSpc>
                  <a:spcPts val="3257"/>
                </a:lnSpc>
                <a:buFont typeface="Arial"/>
                <a:buChar char="•"/>
              </a:pPr>
              <a:r>
                <a:rPr lang="en-US" sz="2506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Supports data-driven business decisions.</a:t>
              </a:r>
            </a:p>
            <a:p>
              <a:pPr algn="l" marL="0" indent="0" lvl="0">
                <a:lnSpc>
                  <a:spcPts val="325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1562100"/>
            <a:ext cx="4010025" cy="4476750"/>
            <a:chOff x="0" y="0"/>
            <a:chExt cx="909703" cy="1015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703" cy="1015582"/>
            </a:xfrm>
            <a:custGeom>
              <a:avLst/>
              <a:gdLst/>
              <a:ahLst/>
              <a:cxnLst/>
              <a:rect r="r" b="b" t="t" l="l"/>
              <a:pathLst>
                <a:path h="1015582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2" r="0" b="-25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611225" y="1595097"/>
            <a:ext cx="4010025" cy="4443753"/>
            <a:chOff x="0" y="0"/>
            <a:chExt cx="909703" cy="1008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703" cy="1008097"/>
            </a:xfrm>
            <a:custGeom>
              <a:avLst/>
              <a:gdLst/>
              <a:ahLst/>
              <a:cxnLst/>
              <a:rect r="r" b="b" t="t" l="l"/>
              <a:pathLst>
                <a:path h="1008097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2" r="0" b="-34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Engagement Analysis of Dishes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1408099"/>
            <a:chOff x="0" y="0"/>
            <a:chExt cx="5346700" cy="1877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 Engagement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Dishes showing high engagement receive excellent reviews.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934200"/>
            <a:ext cx="4010025" cy="1770049"/>
            <a:chOff x="0" y="0"/>
            <a:chExt cx="5346700" cy="23600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Low Engagement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944"/>
              <a:ext cx="5346700" cy="1439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Low engagement dishes need strategic improvements identified.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7977" y="6391275"/>
            <a:ext cx="7701155" cy="2493949"/>
            <a:chOff x="0" y="0"/>
            <a:chExt cx="10268207" cy="332526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026647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Engagement Analysis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20944"/>
              <a:ext cx="10268207" cy="2404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</a:p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Most d</a:t>
              </a: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ishes fall under low engagement.</a:t>
              </a:r>
            </a:p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Medium engagement dishes receive the highest reviews.</a:t>
              </a:r>
            </a:p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High engagement items represent the most popular dishes.</a:t>
              </a:r>
            </a:p>
            <a:p>
              <a:pPr algn="l" marL="0" indent="0" lvl="0">
                <a:lnSpc>
                  <a:spcPts val="286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1562100"/>
            <a:ext cx="4010025" cy="4476750"/>
            <a:chOff x="0" y="0"/>
            <a:chExt cx="909703" cy="1015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703" cy="1015582"/>
            </a:xfrm>
            <a:custGeom>
              <a:avLst/>
              <a:gdLst/>
              <a:ahLst/>
              <a:cxnLst/>
              <a:rect r="r" b="b" t="t" l="l"/>
              <a:pathLst>
                <a:path h="1015582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2" r="0" b="-25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611225" y="1595097"/>
            <a:ext cx="4010025" cy="4443753"/>
            <a:chOff x="0" y="0"/>
            <a:chExt cx="909703" cy="1008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703" cy="1008097"/>
            </a:xfrm>
            <a:custGeom>
              <a:avLst/>
              <a:gdLst/>
              <a:ahLst/>
              <a:cxnLst/>
              <a:rect r="r" b="b" t="t" l="l"/>
              <a:pathLst>
                <a:path h="1008097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2" r="0" b="-34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Customer Reviews &amp; Ratings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1770049"/>
            <a:chOff x="0" y="0"/>
            <a:chExt cx="5346700" cy="23600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Engagement Levels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944"/>
              <a:ext cx="5346700" cy="1439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Understanding customer engagement shapes product strategies effectively.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934200"/>
            <a:ext cx="4010025" cy="1408099"/>
            <a:chOff x="0" y="0"/>
            <a:chExt cx="5346700" cy="18774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Ratings Distribution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Analyzing ratings aids in refining product offerings regularly.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7422" y="6934200"/>
            <a:ext cx="8848978" cy="2288982"/>
            <a:chOff x="0" y="0"/>
            <a:chExt cx="11798637" cy="305197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11796641" cy="623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80"/>
                </a:lnSpc>
                <a:spcBef>
                  <a:spcPct val="0"/>
                </a:spcBef>
              </a:pPr>
              <a:r>
                <a:rPr lang="en-US" b="true" sz="3066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Custo</a:t>
              </a:r>
              <a:r>
                <a:rPr lang="en-US" b="true" sz="3066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mer Ratings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94631"/>
              <a:ext cx="11798637" cy="2457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3"/>
                </a:lnSpc>
              </a:pPr>
            </a:p>
            <a:p>
              <a:pPr algn="l" marL="485584" indent="-242792" lvl="1">
                <a:lnSpc>
                  <a:spcPts val="2923"/>
                </a:lnSpc>
                <a:buFont typeface="Arial"/>
                <a:buChar char="•"/>
              </a:pPr>
              <a:r>
                <a:rPr lang="en-US" sz="224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Average ratings range between 4.3 – 4.4.</a:t>
              </a:r>
            </a:p>
            <a:p>
              <a:pPr algn="l" marL="485584" indent="-242792" lvl="1">
                <a:lnSpc>
                  <a:spcPts val="2923"/>
                </a:lnSpc>
                <a:buFont typeface="Arial"/>
                <a:buChar char="•"/>
              </a:pPr>
              <a:r>
                <a:rPr lang="en-US" sz="224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Ratings remain consistently high across engagement levels.</a:t>
              </a:r>
            </a:p>
            <a:p>
              <a:pPr algn="l" marL="485584" indent="-242792" lvl="1">
                <a:lnSpc>
                  <a:spcPts val="2923"/>
                </a:lnSpc>
                <a:buFont typeface="Arial"/>
                <a:buChar char="•"/>
              </a:pPr>
              <a:r>
                <a:rPr lang="en-US" sz="224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High engagement dishes often have better customer satisfaction.</a:t>
              </a:r>
            </a:p>
            <a:p>
              <a:pPr algn="l" marL="0" indent="0" lvl="0">
                <a:lnSpc>
                  <a:spcPts val="2923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13290">
            <a:off x="-7998005" y="514445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8500" y="4248150"/>
            <a:ext cx="3181350" cy="2686050"/>
            <a:chOff x="0" y="0"/>
            <a:chExt cx="721712" cy="6093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256" t="0" r="-25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553325" y="4248150"/>
            <a:ext cx="3181350" cy="2686050"/>
            <a:chOff x="0" y="0"/>
            <a:chExt cx="721712" cy="609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5"/>
              <a:stretch>
                <a:fillRect l="-256" t="0" r="-25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68150" y="4248150"/>
            <a:ext cx="3181350" cy="2686050"/>
            <a:chOff x="0" y="0"/>
            <a:chExt cx="721712" cy="609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6"/>
              <a:stretch>
                <a:fillRect l="-256" t="0" r="-25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949866" y="1900089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Insights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457048" y="7514608"/>
            <a:ext cx="8849377" cy="2208878"/>
            <a:chOff x="0" y="0"/>
            <a:chExt cx="11799169" cy="294517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471503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</a:t>
              </a: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ey Insights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75126"/>
              <a:ext cx="11799169" cy="2170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7358" indent="-273679" lvl="1">
                <a:lnSpc>
                  <a:spcPts val="3295"/>
                </a:lnSpc>
                <a:buFont typeface="Arial"/>
                <a:buChar char="•"/>
              </a:pPr>
              <a:r>
                <a:rPr lang="en-US" sz="2535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Mid-</a:t>
              </a:r>
              <a:r>
                <a:rPr lang="en-US" sz="2535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range priced items generate more engagement.</a:t>
              </a:r>
            </a:p>
            <a:p>
              <a:pPr algn="l" marL="547358" indent="-273679" lvl="1">
                <a:lnSpc>
                  <a:spcPts val="3295"/>
                </a:lnSpc>
                <a:buFont typeface="Arial"/>
                <a:buChar char="•"/>
              </a:pPr>
              <a:r>
                <a:rPr lang="en-US" sz="2535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Most products receive positive customer feedback.</a:t>
              </a:r>
            </a:p>
            <a:p>
              <a:pPr algn="l" marL="547358" indent="-273679" lvl="1">
                <a:lnSpc>
                  <a:spcPts val="3295"/>
                </a:lnSpc>
                <a:buFont typeface="Arial"/>
                <a:buChar char="•"/>
              </a:pPr>
              <a:r>
                <a:rPr lang="en-US" sz="2535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Popular categories include desserts and ice creams.</a:t>
              </a:r>
            </a:p>
            <a:p>
              <a:pPr algn="l" marL="0" indent="0" lvl="0">
                <a:lnSpc>
                  <a:spcPts val="329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1115" y="1028700"/>
            <a:ext cx="9555468" cy="5280847"/>
          </a:xfrm>
          <a:custGeom>
            <a:avLst/>
            <a:gdLst/>
            <a:ahLst/>
            <a:cxnLst/>
            <a:rect r="r" b="b" t="t" l="l"/>
            <a:pathLst>
              <a:path h="5280847" w="9555468">
                <a:moveTo>
                  <a:pt x="0" y="0"/>
                </a:moveTo>
                <a:lnTo>
                  <a:pt x="9555468" y="0"/>
                </a:lnTo>
                <a:lnTo>
                  <a:pt x="9555468" y="5280847"/>
                </a:lnTo>
                <a:lnTo>
                  <a:pt x="0" y="5280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562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Business Strategy &amp; Product Innovation Dashboard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911115" y="6869818"/>
            <a:ext cx="10758046" cy="3195955"/>
            <a:chOff x="0" y="0"/>
            <a:chExt cx="14344061" cy="42612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30945" y="-9525"/>
              <a:ext cx="13282172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</a:t>
              </a:r>
              <a:r>
                <a:rPr lang="en-US" b="true" sz="3199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shboard Overview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76225"/>
              <a:ext cx="14344061" cy="3985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79"/>
                </a:lnSpc>
              </a:pPr>
            </a:p>
            <a:p>
              <a:pPr algn="l" marL="561337" indent="-280669" lvl="1">
                <a:lnSpc>
                  <a:spcPts val="3379"/>
                </a:lnSpc>
                <a:buFont typeface="Arial"/>
                <a:buChar char="•"/>
              </a:pPr>
              <a:r>
                <a:rPr lang="en-US" sz="259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Provides insights into product performance, customer sentiment, and engagement levels.</a:t>
              </a:r>
            </a:p>
            <a:p>
              <a:pPr algn="l" marL="561337" indent="-280669" lvl="1">
                <a:lnSpc>
                  <a:spcPts val="3379"/>
                </a:lnSpc>
                <a:buFont typeface="Arial"/>
                <a:buChar char="•"/>
              </a:pPr>
              <a:r>
                <a:rPr lang="en-US" sz="259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Helps businesses identify top-performing categories and pricing strategies.</a:t>
              </a:r>
            </a:p>
            <a:p>
              <a:pPr algn="l" marL="561337" indent="-280669" lvl="1">
                <a:lnSpc>
                  <a:spcPts val="3379"/>
                </a:lnSpc>
                <a:buFont typeface="Arial"/>
                <a:buChar char="•"/>
              </a:pPr>
              <a:r>
                <a:rPr lang="en-US" sz="2599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Supports data-driven product innovation and strategic decision-making.</a:t>
              </a:r>
            </a:p>
            <a:p>
              <a:pPr algn="l" marL="0" indent="0" lvl="0">
                <a:lnSpc>
                  <a:spcPts val="33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1562100"/>
            <a:ext cx="4010025" cy="4476750"/>
            <a:chOff x="0" y="0"/>
            <a:chExt cx="909703" cy="1015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703" cy="1015582"/>
            </a:xfrm>
            <a:custGeom>
              <a:avLst/>
              <a:gdLst/>
              <a:ahLst/>
              <a:cxnLst/>
              <a:rect r="r" b="b" t="t" l="l"/>
              <a:pathLst>
                <a:path h="1015582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2" r="0" b="-25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611225" y="1595097"/>
            <a:ext cx="4010025" cy="4443753"/>
            <a:chOff x="0" y="0"/>
            <a:chExt cx="909703" cy="1008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703" cy="1008097"/>
            </a:xfrm>
            <a:custGeom>
              <a:avLst/>
              <a:gdLst/>
              <a:ahLst/>
              <a:cxnLst/>
              <a:rect r="r" b="b" t="t" l="l"/>
              <a:pathLst>
                <a:path h="1008097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2" r="0" b="-34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Top Performing Food Categories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1408099"/>
            <a:chOff x="0" y="0"/>
            <a:chExt cx="5346700" cy="1877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Desserts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b="true" sz="2200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 customer engagement</a:t>
              </a: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with sweet offerings and treats.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934200"/>
            <a:ext cx="4010025" cy="1408099"/>
            <a:chOff x="0" y="0"/>
            <a:chExt cx="5346700" cy="18774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Breakfast Bestsellers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b="true" sz="2200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Popular morning choices</a:t>
              </a: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driving customer satisfaction and loyalty.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7216" y="6680111"/>
            <a:ext cx="7791687" cy="3324375"/>
            <a:chOff x="0" y="0"/>
            <a:chExt cx="10388916" cy="44325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038891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Top P</a:t>
              </a: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erforming Categories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81025"/>
              <a:ext cx="10388916" cy="385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</a:p>
            <a:p>
              <a:pPr algn="l" marL="474902" indent="-237451" lvl="1">
                <a:lnSpc>
                  <a:spcPts val="285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Popular categories include:</a:t>
              </a:r>
            </a:p>
            <a:p>
              <a:pPr algn="l" marL="949805" indent="-316602" lvl="2">
                <a:lnSpc>
                  <a:spcPts val="2859"/>
                </a:lnSpc>
                <a:buFont typeface="Arial"/>
                <a:buChar char="⚬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Death by Chocolate Sundaes</a:t>
              </a:r>
            </a:p>
            <a:p>
              <a:pPr algn="l" marL="949805" indent="-316602" lvl="2">
                <a:lnSpc>
                  <a:spcPts val="2859"/>
                </a:lnSpc>
                <a:buFont typeface="Arial"/>
                <a:buChar char="⚬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Breakfast Bestsellers</a:t>
              </a:r>
            </a:p>
            <a:p>
              <a:pPr algn="l" marL="949805" indent="-316602" lvl="2">
                <a:lnSpc>
                  <a:spcPts val="2859"/>
                </a:lnSpc>
                <a:buFont typeface="Arial"/>
                <a:buChar char="⚬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Rice &amp; Biryani</a:t>
              </a:r>
            </a:p>
            <a:p>
              <a:pPr algn="l" marL="949805" indent="-316602" lvl="2">
                <a:lnSpc>
                  <a:spcPts val="2859"/>
                </a:lnSpc>
                <a:buFont typeface="Arial"/>
                <a:buChar char="⚬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Sweet dishes</a:t>
              </a:r>
            </a:p>
            <a:p>
              <a:pPr algn="l" marL="474902" indent="-237451" lvl="1">
                <a:lnSpc>
                  <a:spcPts val="285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D7E3E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Desserts and breakfast items show high popularity scores.</a:t>
              </a:r>
            </a:p>
            <a:p>
              <a:pPr algn="l" marL="0" indent="0" lvl="0">
                <a:lnSpc>
                  <a:spcPts val="28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1562100"/>
            <a:ext cx="4010025" cy="4476750"/>
            <a:chOff x="0" y="0"/>
            <a:chExt cx="909703" cy="1015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703" cy="1015582"/>
            </a:xfrm>
            <a:custGeom>
              <a:avLst/>
              <a:gdLst/>
              <a:ahLst/>
              <a:cxnLst/>
              <a:rect r="r" b="b" t="t" l="l"/>
              <a:pathLst>
                <a:path h="1015582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2" r="0" b="-25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611225" y="1595097"/>
            <a:ext cx="4010025" cy="4443753"/>
            <a:chOff x="0" y="0"/>
            <a:chExt cx="909703" cy="1008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703" cy="1008097"/>
            </a:xfrm>
            <a:custGeom>
              <a:avLst/>
              <a:gdLst/>
              <a:ahLst/>
              <a:cxnLst/>
              <a:rect r="r" b="b" t="t" l="l"/>
              <a:pathLst>
                <a:path h="1008097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2" r="0" b="-34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Pricing Strategy Insights and Implications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1408099"/>
            <a:chOff x="0" y="0"/>
            <a:chExt cx="5346700" cy="1877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Budget Insights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Customers prefer budget options with positive sentiment trends.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934200"/>
            <a:ext cx="4010025" cy="1408099"/>
            <a:chOff x="0" y="0"/>
            <a:chExt cx="5346700" cy="18774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Premium Appeal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Premium offerings attract high ratings and positive sentiments.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862731"/>
            <a:ext cx="7439042" cy="2959136"/>
            <a:chOff x="0" y="0"/>
            <a:chExt cx="9918723" cy="394551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9357377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</a:t>
              </a:r>
              <a:r>
                <a:rPr lang="en-US" b="true" sz="3000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ustomer Sentiment by Price Range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58593"/>
              <a:ext cx="9918723" cy="2886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Budget items have the highest sentiment score.</a:t>
              </a:r>
            </a:p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Mid-range products maintain strong customer satisfaction.</a:t>
              </a:r>
            </a:p>
            <a:p>
              <a:pPr algn="l" marL="474983" indent="-237491" lvl="1">
                <a:lnSpc>
                  <a:spcPts val="2860"/>
                </a:lnSpc>
                <a:buFont typeface="Arial"/>
                <a:buChar char="•"/>
              </a:pPr>
              <a:r>
                <a:rPr lang="en-US" sz="2200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Premium and luxury items show slightly lower sentiment levels.</a:t>
              </a:r>
            </a:p>
            <a:p>
              <a:pPr algn="l" marL="0" indent="0" lvl="0">
                <a:lnSpc>
                  <a:spcPts val="286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657334"/>
            <a:chOff x="0" y="0"/>
            <a:chExt cx="11099800" cy="754311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0571" y="3667618"/>
              <a:ext cx="10889229" cy="3875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 engagement items receive more reviews and higher ratings.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Most products maintain ratings above 4.3.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Indicates strong customer satisfaction across categories.</a:t>
              </a:r>
            </a:p>
            <a:p>
              <a:pPr algn="l" marL="0" indent="0" lvl="0">
                <a:lnSpc>
                  <a:spcPts val="38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Engagem</a:t>
              </a: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ent vs Rating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7257663"/>
            <a:chOff x="0" y="0"/>
            <a:chExt cx="11099800" cy="967688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0571" y="5153518"/>
              <a:ext cx="10889229" cy="452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Majority of dishes fall under low engagement (around 80%).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Medium engagement contributes significantly to customer interactions.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 and very high engagement items represent top-performing dishes.</a:t>
              </a:r>
            </a:p>
            <a:p>
              <a:pPr algn="l" marL="0" indent="0" lvl="0">
                <a:lnSpc>
                  <a:spcPts val="38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4584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Engagem</a:t>
              </a: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ent Level Distribution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6486524"/>
            <a:chOff x="0" y="0"/>
            <a:chExt cx="11099800" cy="86486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0571" y="2181718"/>
              <a:ext cx="10889229" cy="6466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Desserts and breakfast categories drive strong performance.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Budget and mid-range pricing attracts higher positive sentiment.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Customer ratings remain consistently high across products.</a:t>
              </a:r>
            </a:p>
            <a:p>
              <a:pPr algn="l" marL="635413" indent="-317706" lvl="1">
                <a:lnSpc>
                  <a:spcPts val="3826"/>
                </a:lnSpc>
                <a:buFont typeface="Arial"/>
                <a:buChar char="•"/>
              </a:pPr>
              <a:r>
                <a:rPr lang="en-US" sz="2943">
                  <a:solidFill>
                    <a:srgbClr val="D7E3E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small group of dishes generate very high engagement.</a:t>
              </a:r>
            </a:p>
            <a:p>
              <a:pPr algn="l" marL="0" indent="0" lvl="0">
                <a:lnSpc>
                  <a:spcPts val="38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0F4F8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Insights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74064">
            <a:off x="14221481" y="6404997"/>
            <a:ext cx="9086976" cy="8558279"/>
          </a:xfrm>
          <a:custGeom>
            <a:avLst/>
            <a:gdLst/>
            <a:ahLst/>
            <a:cxnLst/>
            <a:rect r="r" b="b" t="t" l="l"/>
            <a:pathLst>
              <a:path h="8558279" w="9086976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5888" y="993059"/>
            <a:ext cx="1551622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0F4F8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6013" y="2693413"/>
            <a:ext cx="12094523" cy="547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dashboards provide valu</a:t>
            </a: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able insights into customer engagement, sentiment, and product performance.</a:t>
            </a:r>
          </a:p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Customer ratings remain consistently high, indicating strong satisfaction with the available products.</a:t>
            </a:r>
          </a:p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Desserts and breakfast items emerge as top-performing categories with high popularity.</a:t>
            </a:r>
          </a:p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Budget and mid-range priced products receive the most positive customer sentiment.</a:t>
            </a:r>
          </a:p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Most dishes fall under low to medium engagement, while a few items generate very high customer interaction.</a:t>
            </a:r>
          </a:p>
          <a:p>
            <a:pPr algn="l">
              <a:lnSpc>
                <a:spcPts val="3670"/>
              </a:lnSpc>
            </a:pPr>
            <a:r>
              <a:rPr lang="en-US" sz="2823">
                <a:solidFill>
                  <a:srgbClr val="D7E3E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Data-driven insights from these dashboards can help businesses improve product strategies, optimize pricing, and enhance customer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C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7814" y="4645978"/>
            <a:ext cx="8492371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YOU!!!!!!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Business Strategy Analytics</dc:description>
  <dc:identifier>DAHEGg_9Xsk</dc:identifier>
  <dcterms:modified xsi:type="dcterms:W3CDTF">2011-08-01T06:04:30Z</dcterms:modified>
  <cp:revision>1</cp:revision>
  <dc:title>Presentation - Business Strategy Analytics</dc:title>
</cp:coreProperties>
</file>